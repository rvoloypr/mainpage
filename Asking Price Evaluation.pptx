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6" r:id="rId2"/>
    <p:sldId id="258" r:id="rId3"/>
    <p:sldId id="259" r:id="rId4"/>
    <p:sldId id="269" r:id="rId5"/>
  </p:sldIdLst>
  <p:sldSz cx="7559675" cy="106918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0B2D"/>
    <a:srgbClr val="576497"/>
    <a:srgbClr val="E7E7E7"/>
    <a:srgbClr val="CBCBCB"/>
    <a:srgbClr val="A00D30"/>
    <a:srgbClr val="3C4A86"/>
    <a:srgbClr val="00796B"/>
    <a:srgbClr val="AB47BC"/>
    <a:srgbClr val="FFFF00"/>
    <a:srgbClr val="FFA7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50" d="100"/>
          <a:sy n="50" d="100"/>
        </p:scale>
        <p:origin x="2664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1318B-64E4-4001-9F23-6B5569C58D58}" type="datetimeFigureOut">
              <a:rPr lang="en-GB" smtClean="0"/>
              <a:t>30/12/2025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4438" y="857250"/>
            <a:ext cx="16351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3F723-C6BD-429F-A8ED-D6A6F9AE49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0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3F723-C6BD-429F-A8ED-D6A6F9AE49D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227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049C4-DF3F-1EBC-2E5C-8B73DFA5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487CA-246D-E7B8-4F7E-21CE7EC0D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F4281-F682-693D-6341-BA01128FD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793-9E8A-CE91-8745-2D9B1870A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3F723-C6BD-429F-A8ED-D6A6F9AE49D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029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7" y="1749800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1" y="5615681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8006" indent="0" algn="ctr">
              <a:buNone/>
              <a:defRPr sz="1653"/>
            </a:lvl2pPr>
            <a:lvl3pPr marL="756012" indent="0" algn="ctr">
              <a:buNone/>
              <a:defRPr sz="1488"/>
            </a:lvl3pPr>
            <a:lvl4pPr marL="1134019" indent="0" algn="ctr">
              <a:buNone/>
              <a:defRPr sz="1323"/>
            </a:lvl4pPr>
            <a:lvl5pPr marL="1512025" indent="0" algn="ctr">
              <a:buNone/>
              <a:defRPr sz="1323"/>
            </a:lvl5pPr>
            <a:lvl6pPr marL="1890030" indent="0" algn="ctr">
              <a:buNone/>
              <a:defRPr sz="1323"/>
            </a:lvl6pPr>
            <a:lvl7pPr marL="2268037" indent="0" algn="ctr">
              <a:buNone/>
              <a:defRPr sz="1323"/>
            </a:lvl7pPr>
            <a:lvl8pPr marL="2646043" indent="0" algn="ctr">
              <a:buNone/>
              <a:defRPr sz="1323"/>
            </a:lvl8pPr>
            <a:lvl9pPr marL="3024050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1537D-E184-4F80-B1AC-0885BF4963B1}" type="datetime1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30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4E6FB-1D57-40D5-AFCD-2BAFA145745E}" type="datetime1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77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2" y="2665533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2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8006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6012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401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025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03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037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604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40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F392B-6F22-49BA-9228-5E67F674F19C}" type="datetime1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4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2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6" y="2846202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243A1-683B-4517-B275-51A7C967BAFC}" type="datetime1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20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4" y="2620983"/>
            <a:ext cx="3198096" cy="1284503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06" indent="0">
              <a:buNone/>
              <a:defRPr sz="1653" b="1"/>
            </a:lvl2pPr>
            <a:lvl3pPr marL="756012" indent="0">
              <a:buNone/>
              <a:defRPr sz="1488" b="1"/>
            </a:lvl3pPr>
            <a:lvl4pPr marL="1134019" indent="0">
              <a:buNone/>
              <a:defRPr sz="1323" b="1"/>
            </a:lvl4pPr>
            <a:lvl5pPr marL="1512025" indent="0">
              <a:buNone/>
              <a:defRPr sz="1323" b="1"/>
            </a:lvl5pPr>
            <a:lvl6pPr marL="1890030" indent="0">
              <a:buNone/>
              <a:defRPr sz="1323" b="1"/>
            </a:lvl6pPr>
            <a:lvl7pPr marL="2268037" indent="0">
              <a:buNone/>
              <a:defRPr sz="1323" b="1"/>
            </a:lvl7pPr>
            <a:lvl8pPr marL="2646043" indent="0">
              <a:buNone/>
              <a:defRPr sz="1323" b="1"/>
            </a:lvl8pPr>
            <a:lvl9pPr marL="3024050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4" y="3905483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7" y="2620983"/>
            <a:ext cx="3213847" cy="1284503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06" indent="0">
              <a:buNone/>
              <a:defRPr sz="1653" b="1"/>
            </a:lvl2pPr>
            <a:lvl3pPr marL="756012" indent="0">
              <a:buNone/>
              <a:defRPr sz="1488" b="1"/>
            </a:lvl3pPr>
            <a:lvl4pPr marL="1134019" indent="0">
              <a:buNone/>
              <a:defRPr sz="1323" b="1"/>
            </a:lvl4pPr>
            <a:lvl5pPr marL="1512025" indent="0">
              <a:buNone/>
              <a:defRPr sz="1323" b="1"/>
            </a:lvl5pPr>
            <a:lvl6pPr marL="1890030" indent="0">
              <a:buNone/>
              <a:defRPr sz="1323" b="1"/>
            </a:lvl6pPr>
            <a:lvl7pPr marL="2268037" indent="0">
              <a:buNone/>
              <a:defRPr sz="1323" b="1"/>
            </a:lvl7pPr>
            <a:lvl8pPr marL="2646043" indent="0">
              <a:buNone/>
              <a:defRPr sz="1323" b="1"/>
            </a:lvl8pPr>
            <a:lvl9pPr marL="3024050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7" y="3905483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FF525-C185-4C7A-A5D3-1770C5A6EA79}" type="datetime1">
              <a:rPr lang="en-GB" smtClean="0"/>
              <a:t>30/12/2025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12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A70D-9C40-44D7-BC70-830B625CF9BD}" type="datetime1">
              <a:rPr lang="en-GB" smtClean="0"/>
              <a:t>30/12/2025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05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ED2ED-8EB6-48D8-B3E3-3D0A19C398EB}" type="datetime1">
              <a:rPr lang="en-GB" smtClean="0"/>
              <a:t>30/12/2025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19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9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9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5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06" indent="0">
              <a:buNone/>
              <a:defRPr sz="1157"/>
            </a:lvl2pPr>
            <a:lvl3pPr marL="756012" indent="0">
              <a:buNone/>
              <a:defRPr sz="992"/>
            </a:lvl3pPr>
            <a:lvl4pPr marL="1134019" indent="0">
              <a:buNone/>
              <a:defRPr sz="827"/>
            </a:lvl4pPr>
            <a:lvl5pPr marL="1512025" indent="0">
              <a:buNone/>
              <a:defRPr sz="827"/>
            </a:lvl5pPr>
            <a:lvl6pPr marL="1890030" indent="0">
              <a:buNone/>
              <a:defRPr sz="827"/>
            </a:lvl6pPr>
            <a:lvl7pPr marL="2268037" indent="0">
              <a:buNone/>
              <a:defRPr sz="827"/>
            </a:lvl7pPr>
            <a:lvl8pPr marL="2646043" indent="0">
              <a:buNone/>
              <a:defRPr sz="827"/>
            </a:lvl8pPr>
            <a:lvl9pPr marL="3024050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83174-EF37-4EEA-95AC-2F94414C2944}" type="datetime1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2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9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9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8006" indent="0">
              <a:buNone/>
              <a:defRPr sz="2315"/>
            </a:lvl2pPr>
            <a:lvl3pPr marL="756012" indent="0">
              <a:buNone/>
              <a:defRPr sz="1984"/>
            </a:lvl3pPr>
            <a:lvl4pPr marL="1134019" indent="0">
              <a:buNone/>
              <a:defRPr sz="1653"/>
            </a:lvl4pPr>
            <a:lvl5pPr marL="1512025" indent="0">
              <a:buNone/>
              <a:defRPr sz="1653"/>
            </a:lvl5pPr>
            <a:lvl6pPr marL="1890030" indent="0">
              <a:buNone/>
              <a:defRPr sz="1653"/>
            </a:lvl6pPr>
            <a:lvl7pPr marL="2268037" indent="0">
              <a:buNone/>
              <a:defRPr sz="1653"/>
            </a:lvl7pPr>
            <a:lvl8pPr marL="2646043" indent="0">
              <a:buNone/>
              <a:defRPr sz="1653"/>
            </a:lvl8pPr>
            <a:lvl9pPr marL="3024050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5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06" indent="0">
              <a:buNone/>
              <a:defRPr sz="1157"/>
            </a:lvl2pPr>
            <a:lvl3pPr marL="756012" indent="0">
              <a:buNone/>
              <a:defRPr sz="992"/>
            </a:lvl3pPr>
            <a:lvl4pPr marL="1134019" indent="0">
              <a:buNone/>
              <a:defRPr sz="827"/>
            </a:lvl4pPr>
            <a:lvl5pPr marL="1512025" indent="0">
              <a:buNone/>
              <a:defRPr sz="827"/>
            </a:lvl5pPr>
            <a:lvl6pPr marL="1890030" indent="0">
              <a:buNone/>
              <a:defRPr sz="827"/>
            </a:lvl6pPr>
            <a:lvl7pPr marL="2268037" indent="0">
              <a:buNone/>
              <a:defRPr sz="827"/>
            </a:lvl7pPr>
            <a:lvl8pPr marL="2646043" indent="0">
              <a:buNone/>
              <a:defRPr sz="827"/>
            </a:lvl8pPr>
            <a:lvl9pPr marL="3024050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B49B-1074-49FD-A9FC-E48F2487CAB1}" type="datetime1">
              <a:rPr lang="en-GB" smtClean="0"/>
              <a:t>30/12/2025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63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E64D-495E-4D16-A2CD-2094228FAC60}" type="datetime1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16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4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31" y="569244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0654F-80EE-417F-8F96-2331A95DF77B}" type="datetime1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93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2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BDB53-3820-414F-91CA-D1B665EDC424}" type="datetime1">
              <a:rPr lang="en-GB" smtClean="0"/>
              <a:t>30/12/2025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34D9C-0834-4D8C-8D05-A23100FF43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06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756012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04" indent="-189004" algn="l" defTabSz="756012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09" indent="-189004" algn="l" defTabSz="756012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5016" indent="-189004" algn="l" defTabSz="756012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3021" indent="-189004" algn="l" defTabSz="756012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027" indent="-189004" algn="l" defTabSz="756012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034" indent="-189004" algn="l" defTabSz="756012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040" indent="-189004" algn="l" defTabSz="756012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046" indent="-189004" algn="l" defTabSz="756012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053" indent="-189004" algn="l" defTabSz="756012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012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06" algn="l" defTabSz="756012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012" algn="l" defTabSz="756012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019" algn="l" defTabSz="756012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025" algn="l" defTabSz="756012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030" algn="l" defTabSz="756012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037" algn="l" defTabSz="756012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3" algn="l" defTabSz="756012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050" algn="l" defTabSz="756012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6F3230-9670-355D-F29B-E5419888CF18}"/>
              </a:ext>
            </a:extLst>
          </p:cNvPr>
          <p:cNvSpPr/>
          <p:nvPr/>
        </p:nvSpPr>
        <p:spPr>
          <a:xfrm>
            <a:off x="416690" y="1510878"/>
            <a:ext cx="6748040" cy="737847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4D7B9A-717F-C7E8-31AC-36C5A3B2DD36}"/>
              </a:ext>
            </a:extLst>
          </p:cNvPr>
          <p:cNvSpPr txBox="1"/>
          <p:nvPr/>
        </p:nvSpPr>
        <p:spPr>
          <a:xfrm>
            <a:off x="3497511" y="9529707"/>
            <a:ext cx="3924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2024</a:t>
            </a:r>
          </a:p>
          <a:p>
            <a:pPr algn="r">
              <a:spcAft>
                <a:spcPts val="6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Asking Price Evaluation</a:t>
            </a:r>
          </a:p>
          <a:p>
            <a:pPr algn="r">
              <a:spcAft>
                <a:spcPts val="600"/>
              </a:spcAft>
            </a:pPr>
            <a:r>
              <a:rPr lang="en-GB" b="1" dirty="0">
                <a:solidFill>
                  <a:srgbClr val="9F0B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Bondgate, Harewood LS17 9LN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1117611-5E2A-FDE1-7F48-306A20C96AA8}"/>
              </a:ext>
            </a:extLst>
          </p:cNvPr>
          <p:cNvGrpSpPr/>
          <p:nvPr/>
        </p:nvGrpSpPr>
        <p:grpSpPr>
          <a:xfrm>
            <a:off x="630437" y="1564424"/>
            <a:ext cx="6320545" cy="7289895"/>
            <a:chOff x="651753" y="1582103"/>
            <a:chExt cx="6320545" cy="7289895"/>
          </a:xfrm>
        </p:grpSpPr>
        <p:pic>
          <p:nvPicPr>
            <p:cNvPr id="10" name="Picture 9" descr="A map of a town&#10;&#10;AI-generated content may be incorrect.">
              <a:extLst>
                <a:ext uri="{FF2B5EF4-FFF2-40B4-BE49-F238E27FC236}">
                  <a16:creationId xmlns:a16="http://schemas.microsoft.com/office/drawing/2014/main" id="{6816CAA0-81A6-EC5D-60D5-78179085B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13" t="13861" r="1099" b="16967"/>
            <a:stretch>
              <a:fillRect/>
            </a:stretch>
          </p:blipFill>
          <p:spPr>
            <a:xfrm>
              <a:off x="739773" y="1582103"/>
              <a:ext cx="6080125" cy="721866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72397A-0823-E932-356E-8AD9FE583153}"/>
                </a:ext>
              </a:extLst>
            </p:cNvPr>
            <p:cNvSpPr/>
            <p:nvPr/>
          </p:nvSpPr>
          <p:spPr>
            <a:xfrm>
              <a:off x="651753" y="8618707"/>
              <a:ext cx="3618690" cy="2112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5D6606-6B67-A436-5D8C-36E6B24B3A8C}"/>
                </a:ext>
              </a:extLst>
            </p:cNvPr>
            <p:cNvSpPr/>
            <p:nvPr/>
          </p:nvSpPr>
          <p:spPr>
            <a:xfrm>
              <a:off x="3353608" y="8771108"/>
              <a:ext cx="3618690" cy="1008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" name="Picture 3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FD026376-E9B5-EAE4-458B-C710866FAC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61" b="42174"/>
          <a:stretch>
            <a:fillRect/>
          </a:stretch>
        </p:blipFill>
        <p:spPr>
          <a:xfrm>
            <a:off x="1795807" y="382497"/>
            <a:ext cx="4564053" cy="86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79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B0B4A6-956F-B03E-DBC9-F7F3886433A1}"/>
              </a:ext>
            </a:extLst>
          </p:cNvPr>
          <p:cNvSpPr txBox="1"/>
          <p:nvPr/>
        </p:nvSpPr>
        <p:spPr>
          <a:xfrm>
            <a:off x="243840" y="1120851"/>
            <a:ext cx="7025063" cy="871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Yorkshire Property Report has been instructed by </a:t>
            </a:r>
            <a:r>
              <a:rPr lang="en-GB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Mrs X XXXXX </a:t>
            </a:r>
            <a:r>
              <a:rPr lang="en-GB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review of </a:t>
            </a:r>
            <a:r>
              <a:rPr lang="en-GB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Bondgate, Harewood LS17 9LN. </a:t>
            </a:r>
            <a:r>
              <a:rPr lang="en-GB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report will: </a:t>
            </a:r>
          </a:p>
          <a:p>
            <a:pPr marL="285750" indent="-285750">
              <a:lnSpc>
                <a:spcPct val="107000"/>
              </a:lnSpc>
              <a:spcAft>
                <a:spcPts val="400"/>
              </a:spcAft>
              <a:buFontTx/>
              <a:buChar char="-"/>
            </a:pPr>
            <a:r>
              <a:rPr lang="en-GB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whether the asking price is fair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F65C04-7C26-DF7F-16D1-5429BD2B9738}"/>
              </a:ext>
            </a:extLst>
          </p:cNvPr>
          <p:cNvCxnSpPr/>
          <p:nvPr/>
        </p:nvCxnSpPr>
        <p:spPr>
          <a:xfrm>
            <a:off x="243844" y="2173230"/>
            <a:ext cx="7025061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9372B7-6B80-A323-FABA-EB092E717B06}"/>
              </a:ext>
            </a:extLst>
          </p:cNvPr>
          <p:cNvCxnSpPr/>
          <p:nvPr/>
        </p:nvCxnSpPr>
        <p:spPr>
          <a:xfrm>
            <a:off x="244129" y="1023570"/>
            <a:ext cx="7025061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CCB6845-7371-7AAF-7629-73136216A8E6}"/>
              </a:ext>
            </a:extLst>
          </p:cNvPr>
          <p:cNvSpPr txBox="1"/>
          <p:nvPr/>
        </p:nvSpPr>
        <p:spPr>
          <a:xfrm>
            <a:off x="243840" y="610528"/>
            <a:ext cx="223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2024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D53C4F5-E8F8-08A3-F7BC-641B9E023378}"/>
              </a:ext>
            </a:extLst>
          </p:cNvPr>
          <p:cNvSpPr txBox="1">
            <a:spLocks/>
          </p:cNvSpPr>
          <p:nvPr/>
        </p:nvSpPr>
        <p:spPr>
          <a:xfrm>
            <a:off x="0" y="10389892"/>
            <a:ext cx="7559675" cy="876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0A34D9C-0834-4D8C-8D05-A23100FF43C5}" type="slidenum">
              <a:rPr lang="en-GB" sz="1100" smtClean="0"/>
              <a:pPr algn="ctr"/>
              <a:t>2</a:t>
            </a:fld>
            <a:endParaRPr lang="en-GB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2E2E10-491C-CB64-513B-9C7DE4D541CF}"/>
              </a:ext>
            </a:extLst>
          </p:cNvPr>
          <p:cNvSpPr txBox="1"/>
          <p:nvPr/>
        </p:nvSpPr>
        <p:spPr>
          <a:xfrm>
            <a:off x="244129" y="2374581"/>
            <a:ext cx="7025061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MARKET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60D10F-BEA7-3878-2E6D-9C98BCDFADB6}"/>
              </a:ext>
            </a:extLst>
          </p:cNvPr>
          <p:cNvSpPr txBox="1"/>
          <p:nvPr/>
        </p:nvSpPr>
        <p:spPr>
          <a:xfrm>
            <a:off x="556741" y="2757362"/>
            <a:ext cx="6677436" cy="53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Bondgate was last sold on 08.02.2006 for £140,000. Using Nationwide’s house price calculator (which adjusts for location), the property would now be worth around £</a:t>
            </a:r>
            <a:r>
              <a:rPr lang="en-GB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197,538.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6A75C3-B78B-5427-84E0-E88CF2A1DD11}"/>
              </a:ext>
            </a:extLst>
          </p:cNvPr>
          <p:cNvSpPr txBox="1"/>
          <p:nvPr/>
        </p:nvSpPr>
        <p:spPr>
          <a:xfrm>
            <a:off x="108415" y="2764249"/>
            <a:ext cx="448326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D5AC54-2BF9-E3A9-285C-ED44F0EF31B6}"/>
              </a:ext>
            </a:extLst>
          </p:cNvPr>
          <p:cNvSpPr txBox="1"/>
          <p:nvPr/>
        </p:nvSpPr>
        <p:spPr>
          <a:xfrm>
            <a:off x="556742" y="3367818"/>
            <a:ext cx="6677436" cy="768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have done our own thorough review of the recent sales in Harewood. Direct comparable homes were difficult to find, and in the last 12 months, only four properties within a 0.5mile radius have sold (see below).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213D48-5625-4FED-6F38-7648460D34E3}"/>
              </a:ext>
            </a:extLst>
          </p:cNvPr>
          <p:cNvSpPr txBox="1"/>
          <p:nvPr/>
        </p:nvSpPr>
        <p:spPr>
          <a:xfrm>
            <a:off x="108415" y="3389440"/>
            <a:ext cx="448326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1.2</a:t>
            </a:r>
          </a:p>
        </p:txBody>
      </p:sp>
      <p:pic>
        <p:nvPicPr>
          <p:cNvPr id="19" name="Picture 18" descr="A map of a town&#10;&#10;AI-generated content may be incorrect.">
            <a:extLst>
              <a:ext uri="{FF2B5EF4-FFF2-40B4-BE49-F238E27FC236}">
                <a16:creationId xmlns:a16="http://schemas.microsoft.com/office/drawing/2014/main" id="{0A2A2184-A5FB-33B2-6E84-C0008FB63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91"/>
          <a:stretch>
            <a:fillRect/>
          </a:stretch>
        </p:blipFill>
        <p:spPr>
          <a:xfrm>
            <a:off x="753831" y="4291036"/>
            <a:ext cx="6005080" cy="5311574"/>
          </a:xfrm>
          <a:prstGeom prst="rect">
            <a:avLst/>
          </a:prstGeom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D4377D37-0660-B98F-3542-87F33CBBFC50}"/>
              </a:ext>
            </a:extLst>
          </p:cNvPr>
          <p:cNvSpPr/>
          <p:nvPr/>
        </p:nvSpPr>
        <p:spPr>
          <a:xfrm>
            <a:off x="3928110" y="7854372"/>
            <a:ext cx="190500" cy="183710"/>
          </a:xfrm>
          <a:prstGeom prst="wedgeEllipseCallout">
            <a:avLst>
              <a:gd name="adj1" fmla="val 3167"/>
              <a:gd name="adj2" fmla="val 9525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F5671-0A65-3239-7A53-63981B90C66C}"/>
              </a:ext>
            </a:extLst>
          </p:cNvPr>
          <p:cNvSpPr txBox="1"/>
          <p:nvPr/>
        </p:nvSpPr>
        <p:spPr>
          <a:xfrm>
            <a:off x="3903000" y="7826102"/>
            <a:ext cx="2155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DEE7A09E-3867-10A4-0130-8997C7E70CD4}"/>
              </a:ext>
            </a:extLst>
          </p:cNvPr>
          <p:cNvSpPr/>
          <p:nvPr/>
        </p:nvSpPr>
        <p:spPr>
          <a:xfrm>
            <a:off x="2913593" y="5022208"/>
            <a:ext cx="190500" cy="183710"/>
          </a:xfrm>
          <a:prstGeom prst="wedgeEllipseCallout">
            <a:avLst>
              <a:gd name="adj1" fmla="val 3167"/>
              <a:gd name="adj2" fmla="val 95259"/>
            </a:avLst>
          </a:prstGeom>
          <a:solidFill>
            <a:srgbClr val="A00D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Speech Bubble: Oval 19">
            <a:extLst>
              <a:ext uri="{FF2B5EF4-FFF2-40B4-BE49-F238E27FC236}">
                <a16:creationId xmlns:a16="http://schemas.microsoft.com/office/drawing/2014/main" id="{F5AA70BD-9E9C-1EC3-49FD-A92E852F3388}"/>
              </a:ext>
            </a:extLst>
          </p:cNvPr>
          <p:cNvSpPr/>
          <p:nvPr/>
        </p:nvSpPr>
        <p:spPr>
          <a:xfrm>
            <a:off x="2713891" y="5164789"/>
            <a:ext cx="190500" cy="183710"/>
          </a:xfrm>
          <a:prstGeom prst="wedgeEllipseCallout">
            <a:avLst>
              <a:gd name="adj1" fmla="val 3167"/>
              <a:gd name="adj2" fmla="val 9525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Speech Bubble: Oval 20">
            <a:extLst>
              <a:ext uri="{FF2B5EF4-FFF2-40B4-BE49-F238E27FC236}">
                <a16:creationId xmlns:a16="http://schemas.microsoft.com/office/drawing/2014/main" id="{FD0EBB63-3623-BE00-C101-7DEFBF5C5C7C}"/>
              </a:ext>
            </a:extLst>
          </p:cNvPr>
          <p:cNvSpPr/>
          <p:nvPr/>
        </p:nvSpPr>
        <p:spPr>
          <a:xfrm>
            <a:off x="3164295" y="6052878"/>
            <a:ext cx="190500" cy="183710"/>
          </a:xfrm>
          <a:prstGeom prst="wedgeEllipseCallout">
            <a:avLst>
              <a:gd name="adj1" fmla="val 3167"/>
              <a:gd name="adj2" fmla="val 9525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9BCB1-A4C8-8F76-608C-6E79BCF24F4C}"/>
              </a:ext>
            </a:extLst>
          </p:cNvPr>
          <p:cNvSpPr txBox="1"/>
          <p:nvPr/>
        </p:nvSpPr>
        <p:spPr>
          <a:xfrm>
            <a:off x="3137603" y="6027020"/>
            <a:ext cx="2155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099A3A6A-462F-9BA1-66D8-A75E801FD913}"/>
              </a:ext>
            </a:extLst>
          </p:cNvPr>
          <p:cNvSpPr/>
          <p:nvPr/>
        </p:nvSpPr>
        <p:spPr>
          <a:xfrm>
            <a:off x="4370562" y="7508455"/>
            <a:ext cx="190500" cy="183710"/>
          </a:xfrm>
          <a:prstGeom prst="wedgeEllipseCallout">
            <a:avLst>
              <a:gd name="adj1" fmla="val 3167"/>
              <a:gd name="adj2" fmla="val 9525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EA94CD-B475-B50D-4202-C52CA528EDB6}"/>
              </a:ext>
            </a:extLst>
          </p:cNvPr>
          <p:cNvSpPr txBox="1"/>
          <p:nvPr/>
        </p:nvSpPr>
        <p:spPr>
          <a:xfrm>
            <a:off x="4343870" y="7488477"/>
            <a:ext cx="2155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C852C8-FF22-1A64-50BD-FA2FD39B9F24}"/>
              </a:ext>
            </a:extLst>
          </p:cNvPr>
          <p:cNvSpPr txBox="1"/>
          <p:nvPr/>
        </p:nvSpPr>
        <p:spPr>
          <a:xfrm>
            <a:off x="2688239" y="5139708"/>
            <a:ext cx="2155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3" name="Picture 2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48A1F459-892D-D661-A19D-9BEE7B3B30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20" t="27361" r="13079" b="42174"/>
          <a:stretch>
            <a:fillRect/>
          </a:stretch>
        </p:blipFill>
        <p:spPr>
          <a:xfrm>
            <a:off x="4685522" y="276176"/>
            <a:ext cx="2750400" cy="66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0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985E053-3E48-84C5-7782-CB0BE2D3C992}"/>
              </a:ext>
            </a:extLst>
          </p:cNvPr>
          <p:cNvCxnSpPr/>
          <p:nvPr/>
        </p:nvCxnSpPr>
        <p:spPr>
          <a:xfrm>
            <a:off x="244129" y="1029376"/>
            <a:ext cx="7025061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B458B3-9220-633F-4A52-8D11B3E5B987}"/>
              </a:ext>
            </a:extLst>
          </p:cNvPr>
          <p:cNvSpPr txBox="1"/>
          <p:nvPr/>
        </p:nvSpPr>
        <p:spPr>
          <a:xfrm>
            <a:off x="243840" y="610528"/>
            <a:ext cx="223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2024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34513D8-DE62-5F56-C638-E4CA501A788A}"/>
              </a:ext>
            </a:extLst>
          </p:cNvPr>
          <p:cNvSpPr txBox="1">
            <a:spLocks/>
          </p:cNvSpPr>
          <p:nvPr/>
        </p:nvSpPr>
        <p:spPr>
          <a:xfrm>
            <a:off x="0" y="10405132"/>
            <a:ext cx="7559675" cy="876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0A34D9C-0834-4D8C-8D05-A23100FF43C5}" type="slidenum">
              <a:rPr lang="en-GB" sz="1100" smtClean="0"/>
              <a:pPr algn="ctr"/>
              <a:t>3</a:t>
            </a:fld>
            <a:endParaRPr lang="en-GB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1BC77B-9CE8-FDD7-9FC1-58E1178E50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26" t="2121" r="32189" b="15223"/>
          <a:stretch>
            <a:fillRect/>
          </a:stretch>
        </p:blipFill>
        <p:spPr>
          <a:xfrm>
            <a:off x="576753" y="1195766"/>
            <a:ext cx="3012080" cy="34038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6FFF5B-6722-E03E-05F4-415680F97195}"/>
              </a:ext>
            </a:extLst>
          </p:cNvPr>
          <p:cNvSpPr txBox="1"/>
          <p:nvPr/>
        </p:nvSpPr>
        <p:spPr>
          <a:xfrm>
            <a:off x="576508" y="4638973"/>
            <a:ext cx="906778" cy="126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Address: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Type: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 Sold: </a:t>
            </a:r>
            <a:endParaRPr lang="en-GB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Sold For: </a:t>
            </a: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Size: 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 / </a:t>
            </a:r>
            <a:r>
              <a:rPr lang="en-GB" sz="12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</a:t>
            </a: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ft:</a:t>
            </a:r>
            <a:endParaRPr lang="en-GB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C134348-2B1F-E0D5-F355-44B1111CE2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912" t="14806" r="28476" b="21247"/>
          <a:stretch>
            <a:fillRect/>
          </a:stretch>
        </p:blipFill>
        <p:spPr>
          <a:xfrm>
            <a:off x="3958148" y="6024897"/>
            <a:ext cx="3170729" cy="28971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2195F2-3C81-28A2-781E-18016F206B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662" t="6462" r="27206" b="18631"/>
          <a:stretch>
            <a:fillRect/>
          </a:stretch>
        </p:blipFill>
        <p:spPr>
          <a:xfrm>
            <a:off x="3958148" y="1195765"/>
            <a:ext cx="3170729" cy="340386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C2EB489-C16E-9B60-1DB3-A78C7EB3C3F2}"/>
              </a:ext>
            </a:extLst>
          </p:cNvPr>
          <p:cNvSpPr txBox="1"/>
          <p:nvPr/>
        </p:nvSpPr>
        <p:spPr>
          <a:xfrm>
            <a:off x="268516" y="1153446"/>
            <a:ext cx="1955903" cy="27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</a:t>
            </a:r>
            <a:endParaRPr lang="en-GB" sz="1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14CF8B-0743-B217-D3DF-FA7313215EB0}"/>
              </a:ext>
            </a:extLst>
          </p:cNvPr>
          <p:cNvSpPr txBox="1"/>
          <p:nvPr/>
        </p:nvSpPr>
        <p:spPr>
          <a:xfrm>
            <a:off x="3659721" y="1153446"/>
            <a:ext cx="1955903" cy="27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endParaRPr lang="en-GB" sz="1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B36466-8F0E-9D35-B67C-8E5B3372A027}"/>
              </a:ext>
            </a:extLst>
          </p:cNvPr>
          <p:cNvSpPr txBox="1"/>
          <p:nvPr/>
        </p:nvSpPr>
        <p:spPr>
          <a:xfrm>
            <a:off x="243841" y="6036183"/>
            <a:ext cx="640080" cy="27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</a:t>
            </a:r>
            <a:endParaRPr lang="en-GB" sz="1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D52CAD-618A-4345-7799-90DEAB88CF81}"/>
              </a:ext>
            </a:extLst>
          </p:cNvPr>
          <p:cNvSpPr txBox="1"/>
          <p:nvPr/>
        </p:nvSpPr>
        <p:spPr>
          <a:xfrm>
            <a:off x="3680919" y="6033226"/>
            <a:ext cx="1955903" cy="27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</a:t>
            </a:r>
            <a:endParaRPr lang="en-GB" sz="1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 descr="A stone house with a lawn and bushes&#10;&#10;AI-generated content may be incorrect.">
            <a:extLst>
              <a:ext uri="{FF2B5EF4-FFF2-40B4-BE49-F238E27FC236}">
                <a16:creationId xmlns:a16="http://schemas.microsoft.com/office/drawing/2014/main" id="{1F95A034-9A5C-A780-1F44-A7562201B2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097" b="8095"/>
          <a:stretch>
            <a:fillRect/>
          </a:stretch>
        </p:blipFill>
        <p:spPr>
          <a:xfrm>
            <a:off x="576508" y="6033226"/>
            <a:ext cx="3012080" cy="2888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2312AD-6FC3-9F67-E394-754678684A79}"/>
              </a:ext>
            </a:extLst>
          </p:cNvPr>
          <p:cNvSpPr txBox="1"/>
          <p:nvPr/>
        </p:nvSpPr>
        <p:spPr>
          <a:xfrm>
            <a:off x="1393796" y="4638972"/>
            <a:ext cx="2194792" cy="126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 Bondgate, LS17 9LN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2B Semi Detached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12.02.24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£365,000 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916 </a:t>
            </a:r>
            <a:r>
              <a:rPr lang="en-GB" sz="1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</a:t>
            </a: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ft</a:t>
            </a:r>
            <a:endParaRPr lang="en-GB" sz="12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£398.47</a:t>
            </a:r>
            <a:endParaRPr lang="en-GB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AAA9EA-7E9B-BE97-4022-811A5BB292AF}"/>
              </a:ext>
            </a:extLst>
          </p:cNvPr>
          <p:cNvSpPr txBox="1"/>
          <p:nvPr/>
        </p:nvSpPr>
        <p:spPr>
          <a:xfrm>
            <a:off x="3958148" y="4629390"/>
            <a:ext cx="927606" cy="126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Address: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Type: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 Sold: </a:t>
            </a:r>
            <a:endParaRPr lang="en-GB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Sold For: </a:t>
            </a: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Size: 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 / </a:t>
            </a:r>
            <a:r>
              <a:rPr lang="en-GB" sz="12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</a:t>
            </a: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ft:</a:t>
            </a:r>
            <a:endParaRPr lang="en-GB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02CF46-86BA-0CB0-7F97-F14AAA28D941}"/>
              </a:ext>
            </a:extLst>
          </p:cNvPr>
          <p:cNvSpPr txBox="1"/>
          <p:nvPr/>
        </p:nvSpPr>
        <p:spPr>
          <a:xfrm>
            <a:off x="4788463" y="4630801"/>
            <a:ext cx="2306547" cy="126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 The Avenue, LS17 9LD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3B End Terrace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31.05.23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£420,000 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1,005 </a:t>
            </a:r>
            <a:r>
              <a:rPr lang="en-GB" sz="1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</a:t>
            </a: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ft</a:t>
            </a:r>
            <a:endParaRPr lang="en-GB" sz="12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£417.91</a:t>
            </a:r>
            <a:endParaRPr lang="en-GB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4F77E5-E142-B054-D619-D6CE491B601C}"/>
              </a:ext>
            </a:extLst>
          </p:cNvPr>
          <p:cNvSpPr txBox="1"/>
          <p:nvPr/>
        </p:nvSpPr>
        <p:spPr>
          <a:xfrm>
            <a:off x="563881" y="8964672"/>
            <a:ext cx="906778" cy="126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Address: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Type: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 Sold: </a:t>
            </a:r>
            <a:endParaRPr lang="en-GB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Sold For: </a:t>
            </a: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Size: 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 / </a:t>
            </a:r>
            <a:r>
              <a:rPr lang="en-GB" sz="12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</a:t>
            </a: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ft:</a:t>
            </a:r>
            <a:endParaRPr lang="en-GB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EB37CA-68FC-FCD8-9E44-7A5AE3BCD133}"/>
              </a:ext>
            </a:extLst>
          </p:cNvPr>
          <p:cNvSpPr txBox="1"/>
          <p:nvPr/>
        </p:nvSpPr>
        <p:spPr>
          <a:xfrm>
            <a:off x="1382507" y="8958252"/>
            <a:ext cx="2206080" cy="126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91 The Avenue, LS17 9LD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4B End Terrace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28.02.24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£650,000 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2,371 </a:t>
            </a:r>
            <a:r>
              <a:rPr lang="en-GB" sz="1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</a:t>
            </a: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ft</a:t>
            </a:r>
            <a:endParaRPr lang="en-GB" sz="12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£274.14</a:t>
            </a:r>
            <a:endParaRPr lang="en-GB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33D2C1-41CC-42AD-3C31-281B3AC792F9}"/>
              </a:ext>
            </a:extLst>
          </p:cNvPr>
          <p:cNvSpPr txBox="1"/>
          <p:nvPr/>
        </p:nvSpPr>
        <p:spPr>
          <a:xfrm>
            <a:off x="3958148" y="8958251"/>
            <a:ext cx="902454" cy="126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Address: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Type: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 Sold: </a:t>
            </a:r>
            <a:endParaRPr lang="en-GB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Sold For: </a:t>
            </a: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Size: </a:t>
            </a:r>
          </a:p>
          <a:p>
            <a:pPr>
              <a:lnSpc>
                <a:spcPct val="107000"/>
              </a:lnSpc>
            </a:pP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 / </a:t>
            </a:r>
            <a:r>
              <a:rPr lang="en-GB" sz="12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</a:t>
            </a:r>
            <a:r>
              <a:rPr lang="en-GB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ft:</a:t>
            </a:r>
            <a:endParaRPr lang="en-GB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CD6622-48EB-28B0-4B79-FAE44C79FB9C}"/>
              </a:ext>
            </a:extLst>
          </p:cNvPr>
          <p:cNvSpPr txBox="1"/>
          <p:nvPr/>
        </p:nvSpPr>
        <p:spPr>
          <a:xfrm>
            <a:off x="4787773" y="8968725"/>
            <a:ext cx="2341104" cy="126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28 Harrogate Road, LS17 9LH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3B End Terrace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27.03.23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£303,320 </a:t>
            </a: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1,005 </a:t>
            </a:r>
            <a:r>
              <a:rPr lang="en-GB" sz="1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</a:t>
            </a: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ft</a:t>
            </a:r>
            <a:endParaRPr lang="en-GB" sz="12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£382.98</a:t>
            </a:r>
            <a:endParaRPr lang="en-GB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25F7C079-B45C-9493-4ACE-A6CCC2C7A5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320" t="27361" r="13079" b="42174"/>
          <a:stretch>
            <a:fillRect/>
          </a:stretch>
        </p:blipFill>
        <p:spPr>
          <a:xfrm>
            <a:off x="4685522" y="276176"/>
            <a:ext cx="2750400" cy="66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8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A3C5-4695-1B4C-1F42-01B56F833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82193D0-E2AC-DBD5-ED0A-D54808066366}"/>
              </a:ext>
            </a:extLst>
          </p:cNvPr>
          <p:cNvCxnSpPr/>
          <p:nvPr/>
        </p:nvCxnSpPr>
        <p:spPr>
          <a:xfrm>
            <a:off x="244129" y="1029376"/>
            <a:ext cx="7025061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A8F186F-F2D9-51B5-B87D-BF8C2C284940}"/>
              </a:ext>
            </a:extLst>
          </p:cNvPr>
          <p:cNvSpPr txBox="1"/>
          <p:nvPr/>
        </p:nvSpPr>
        <p:spPr>
          <a:xfrm>
            <a:off x="243840" y="610528"/>
            <a:ext cx="223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2024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39E580-C60E-86B7-34CA-2CE4D96FA150}"/>
              </a:ext>
            </a:extLst>
          </p:cNvPr>
          <p:cNvSpPr txBox="1">
            <a:spLocks/>
          </p:cNvSpPr>
          <p:nvPr/>
        </p:nvSpPr>
        <p:spPr>
          <a:xfrm>
            <a:off x="0" y="10405132"/>
            <a:ext cx="7559675" cy="876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0A34D9C-0834-4D8C-8D05-A23100FF43C5}" type="slidenum">
              <a:rPr lang="en-GB" sz="1100" smtClean="0"/>
              <a:pPr algn="ctr"/>
              <a:t>4</a:t>
            </a:fld>
            <a:endParaRPr lang="en-GB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BF320-1895-675C-E7F8-7CC6F128AD56}"/>
              </a:ext>
            </a:extLst>
          </p:cNvPr>
          <p:cNvSpPr txBox="1"/>
          <p:nvPr/>
        </p:nvSpPr>
        <p:spPr>
          <a:xfrm>
            <a:off x="90999" y="1230039"/>
            <a:ext cx="448326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52245-7931-3CE3-2769-6429F815E0D1}"/>
              </a:ext>
            </a:extLst>
          </p:cNvPr>
          <p:cNvSpPr txBox="1"/>
          <p:nvPr/>
        </p:nvSpPr>
        <p:spPr>
          <a:xfrm>
            <a:off x="539325" y="1230039"/>
            <a:ext cx="672986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1 (10 Bondgate) is the best comparison available. It's the closest in size to 2 Bondgate (which is 368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ft) and sits on the same street.</a:t>
            </a:r>
          </a:p>
          <a:p>
            <a:pPr>
              <a:buNone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two properties aren't identical. While 2 Bondgate is smaller and will cost less overall, smaller homes typically sell for more per square foot than larger ones. This is because buyers pay a premium for entry-level homes in popular areas. Generally, smaller homes cost 10% to 30% more per square foot than larger homes of similar quality in the same location.</a:t>
            </a:r>
          </a:p>
          <a:p>
            <a:pPr>
              <a:buNone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this, a fair price for 2 Bondgate would be around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£199,952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well below the current asking price of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£240,000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homes like 2 Bondgate are rare in this area, which means buyers will likely pay over the odds to secure one. With this in mind, an offer of </a:t>
            </a:r>
            <a:r>
              <a:rPr lang="en-GB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£210,000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would be reasonable.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829DA2-5B88-C3A4-E6E5-8823485BF5D9}"/>
              </a:ext>
            </a:extLst>
          </p:cNvPr>
          <p:cNvSpPr txBox="1"/>
          <p:nvPr/>
        </p:nvSpPr>
        <p:spPr>
          <a:xfrm>
            <a:off x="243841" y="4765854"/>
            <a:ext cx="7025062" cy="30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400" b="1" kern="100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N D   O F   R E P O R 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522F31-5A25-1180-D4BA-BBB99AC8BEEE}"/>
              </a:ext>
            </a:extLst>
          </p:cNvPr>
          <p:cNvCxnSpPr/>
          <p:nvPr/>
        </p:nvCxnSpPr>
        <p:spPr>
          <a:xfrm>
            <a:off x="243841" y="4659347"/>
            <a:ext cx="7025061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4CF97CF3-E1B1-803F-CFED-D99DE1CB2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20" t="27361" r="13079" b="42174"/>
          <a:stretch>
            <a:fillRect/>
          </a:stretch>
        </p:blipFill>
        <p:spPr>
          <a:xfrm>
            <a:off x="4685522" y="276176"/>
            <a:ext cx="2750400" cy="66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26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7878</TotalTime>
  <Words>463</Words>
  <Application>Microsoft Office PowerPoint</Application>
  <PresentationFormat>Custom</PresentationFormat>
  <Paragraphs>83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Volosyanko</dc:creator>
  <cp:lastModifiedBy>Robert Volosyanko</cp:lastModifiedBy>
  <cp:revision>386</cp:revision>
  <dcterms:created xsi:type="dcterms:W3CDTF">2024-02-08T20:43:53Z</dcterms:created>
  <dcterms:modified xsi:type="dcterms:W3CDTF">2025-12-30T22:23:12Z</dcterms:modified>
</cp:coreProperties>
</file>
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sldIdLst>
    <p:sldId id="256" r:id="rId2"/>
    <p:sldId id="258" r:id="rId3"/>
    <p:sldId id="259" r:id="rId4"/>
    <p:sldId id="269" r:id="rId5"/>
    <p:sldId id="266" r:id="rId6"/>
    <p:sldId id="270" r:id="rId7"/>
    <p:sldId id="267" r:id="rId8"/>
    <p:sldId id="265" r:id="rId9"/>
  </p:sldIdLst>
  <p:sldSz cx="7559675" cy="1069181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0B2D"/>
    <a:srgbClr val="576497"/>
    <a:srgbClr val="E7E7E7"/>
    <a:srgbClr val="CBCBCB"/>
    <a:srgbClr val="A00D30"/>
    <a:srgbClr val="3C4A86"/>
    <a:srgbClr val="00796B"/>
    <a:srgbClr val="AB47BC"/>
    <a:srgbClr val="FFFF00"/>
    <a:srgbClr val="FFA7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p:scale>
          <a:sx n="52" d="100"/>
          <a:sy n="52" d="100"/>
        </p:scale>
        <p:origin x="262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AC1318B-64E4-4001-9F23-6B5569C58D58}" type="datetimeFigureOut">
              <a:rPr lang="en-GB" smtClean="0"/>
              <a:t>30/12/2025</a:t>
            </a:fld>
            <a:endParaRPr lang="en-GB"/>
          </a:p>
        </p:txBody>
      </p:sp>
      <p:sp>
        <p:nvSpPr>
          <p:cNvPr id="4" name="Slide Image Placeholder 3"/>
          <p:cNvSpPr>
            <a:spLocks noGrp="1" noRot="1" noChangeAspect="1"/>
          </p:cNvSpPr>
          <p:nvPr>
            <p:ph type="sldImg" idx="2"/>
          </p:nvPr>
        </p:nvSpPr>
        <p:spPr>
          <a:xfrm>
            <a:off x="3754438" y="857250"/>
            <a:ext cx="1635125"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13C3F723-C6BD-429F-A8ED-D6A6F9AE49D3}" type="slidenum">
              <a:rPr lang="en-GB" smtClean="0"/>
              <a:t>‹#›</a:t>
            </a:fld>
            <a:endParaRPr lang="en-GB"/>
          </a:p>
        </p:txBody>
      </p:sp>
    </p:spTree>
    <p:extLst>
      <p:ext uri="{BB962C8B-B14F-4D97-AF65-F5344CB8AC3E}">
        <p14:creationId xmlns:p14="http://schemas.microsoft.com/office/powerpoint/2010/main" val="71801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3C3F723-C6BD-429F-A8ED-D6A6F9AE49D3}" type="slidenum">
              <a:rPr lang="en-GB" smtClean="0"/>
              <a:t>3</a:t>
            </a:fld>
            <a:endParaRPr lang="en-GB"/>
          </a:p>
        </p:txBody>
      </p:sp>
    </p:spTree>
    <p:extLst>
      <p:ext uri="{BB962C8B-B14F-4D97-AF65-F5344CB8AC3E}">
        <p14:creationId xmlns:p14="http://schemas.microsoft.com/office/powerpoint/2010/main" val="2834227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049C4-DF3F-1EBC-2E5C-8B73DFA5D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487CA-246D-E7B8-4F7E-21CE7EC0D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F4281-F682-693D-6341-BA01128FDF3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31BB793-9E8A-CE91-8745-2D9B1870AEDA}"/>
              </a:ext>
            </a:extLst>
          </p:cNvPr>
          <p:cNvSpPr>
            <a:spLocks noGrp="1"/>
          </p:cNvSpPr>
          <p:nvPr>
            <p:ph type="sldNum" sz="quarter" idx="5"/>
          </p:nvPr>
        </p:nvSpPr>
        <p:spPr/>
        <p:txBody>
          <a:bodyPr/>
          <a:lstStyle/>
          <a:p>
            <a:fld id="{13C3F723-C6BD-429F-A8ED-D6A6F9AE49D3}" type="slidenum">
              <a:rPr lang="en-GB" smtClean="0"/>
              <a:t>4</a:t>
            </a:fld>
            <a:endParaRPr lang="en-GB"/>
          </a:p>
        </p:txBody>
      </p:sp>
    </p:spTree>
    <p:extLst>
      <p:ext uri="{BB962C8B-B14F-4D97-AF65-F5344CB8AC3E}">
        <p14:creationId xmlns:p14="http://schemas.microsoft.com/office/powerpoint/2010/main" val="1852029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7" y="1749800"/>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1" y="5615681"/>
            <a:ext cx="5669756" cy="2581379"/>
          </a:xfrm>
        </p:spPr>
        <p:txBody>
          <a:bodyPr/>
          <a:lstStyle>
            <a:lvl1pPr marL="0" indent="0" algn="ctr">
              <a:buNone/>
              <a:defRPr sz="1984"/>
            </a:lvl1pPr>
            <a:lvl2pPr marL="378006" indent="0" algn="ctr">
              <a:buNone/>
              <a:defRPr sz="1653"/>
            </a:lvl2pPr>
            <a:lvl3pPr marL="756012" indent="0" algn="ctr">
              <a:buNone/>
              <a:defRPr sz="1488"/>
            </a:lvl3pPr>
            <a:lvl4pPr marL="1134019" indent="0" algn="ctr">
              <a:buNone/>
              <a:defRPr sz="1323"/>
            </a:lvl4pPr>
            <a:lvl5pPr marL="1512025" indent="0" algn="ctr">
              <a:buNone/>
              <a:defRPr sz="1323"/>
            </a:lvl5pPr>
            <a:lvl6pPr marL="1890030" indent="0" algn="ctr">
              <a:buNone/>
              <a:defRPr sz="1323"/>
            </a:lvl6pPr>
            <a:lvl7pPr marL="2268037" indent="0" algn="ctr">
              <a:buNone/>
              <a:defRPr sz="1323"/>
            </a:lvl7pPr>
            <a:lvl8pPr marL="2646043" indent="0" algn="ctr">
              <a:buNone/>
              <a:defRPr sz="1323"/>
            </a:lvl8pPr>
            <a:lvl9pPr marL="3024050"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31537D-E184-4F80-B1AC-0885BF4963B1}"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2163301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C4E6FB-1D57-40D5-AFCD-2BAFA145745E}"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989775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2" y="2665533"/>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2" y="7155103"/>
            <a:ext cx="6520220" cy="2338833"/>
          </a:xfrm>
        </p:spPr>
        <p:txBody>
          <a:bodyPr/>
          <a:lstStyle>
            <a:lvl1pPr marL="0" indent="0">
              <a:buNone/>
              <a:defRPr sz="1984">
                <a:solidFill>
                  <a:schemeClr val="tx1"/>
                </a:solidFill>
              </a:defRPr>
            </a:lvl1pPr>
            <a:lvl2pPr marL="378006" indent="0">
              <a:buNone/>
              <a:defRPr sz="1653">
                <a:solidFill>
                  <a:schemeClr val="tx1">
                    <a:tint val="75000"/>
                  </a:schemeClr>
                </a:solidFill>
              </a:defRPr>
            </a:lvl2pPr>
            <a:lvl3pPr marL="756012" indent="0">
              <a:buNone/>
              <a:defRPr sz="1488">
                <a:solidFill>
                  <a:schemeClr val="tx1">
                    <a:tint val="75000"/>
                  </a:schemeClr>
                </a:solidFill>
              </a:defRPr>
            </a:lvl3pPr>
            <a:lvl4pPr marL="1134019" indent="0">
              <a:buNone/>
              <a:defRPr sz="1323">
                <a:solidFill>
                  <a:schemeClr val="tx1">
                    <a:tint val="75000"/>
                  </a:schemeClr>
                </a:solidFill>
              </a:defRPr>
            </a:lvl4pPr>
            <a:lvl5pPr marL="1512025" indent="0">
              <a:buNone/>
              <a:defRPr sz="1323">
                <a:solidFill>
                  <a:schemeClr val="tx1">
                    <a:tint val="75000"/>
                  </a:schemeClr>
                </a:solidFill>
              </a:defRPr>
            </a:lvl5pPr>
            <a:lvl6pPr marL="1890030" indent="0">
              <a:buNone/>
              <a:defRPr sz="1323">
                <a:solidFill>
                  <a:schemeClr val="tx1">
                    <a:tint val="75000"/>
                  </a:schemeClr>
                </a:solidFill>
              </a:defRPr>
            </a:lvl6pPr>
            <a:lvl7pPr marL="2268037" indent="0">
              <a:buNone/>
              <a:defRPr sz="1323">
                <a:solidFill>
                  <a:schemeClr val="tx1">
                    <a:tint val="75000"/>
                  </a:schemeClr>
                </a:solidFill>
              </a:defRPr>
            </a:lvl7pPr>
            <a:lvl8pPr marL="2646043" indent="0">
              <a:buNone/>
              <a:defRPr sz="1323">
                <a:solidFill>
                  <a:schemeClr val="tx1">
                    <a:tint val="75000"/>
                  </a:schemeClr>
                </a:solidFill>
              </a:defRPr>
            </a:lvl8pPr>
            <a:lvl9pPr marL="3024050"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1F392B-6F22-49BA-9228-5E67F674F19C}"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20924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2"/>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6" y="2846202"/>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D243A1-683B-4517-B275-51A7C967BAFC}" type="datetime1">
              <a:rPr lang="en-GB" smtClean="0"/>
              <a:t>30/12/2025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2568203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4" y="2620983"/>
            <a:ext cx="3198096" cy="1284503"/>
          </a:xfrm>
        </p:spPr>
        <p:txBody>
          <a:bodyPr anchor="b"/>
          <a:lstStyle>
            <a:lvl1pPr marL="0" indent="0">
              <a:buNone/>
              <a:defRPr sz="1984" b="1"/>
            </a:lvl1pPr>
            <a:lvl2pPr marL="378006" indent="0">
              <a:buNone/>
              <a:defRPr sz="1653" b="1"/>
            </a:lvl2pPr>
            <a:lvl3pPr marL="756012" indent="0">
              <a:buNone/>
              <a:defRPr sz="1488" b="1"/>
            </a:lvl3pPr>
            <a:lvl4pPr marL="1134019" indent="0">
              <a:buNone/>
              <a:defRPr sz="1323" b="1"/>
            </a:lvl4pPr>
            <a:lvl5pPr marL="1512025" indent="0">
              <a:buNone/>
              <a:defRPr sz="1323" b="1"/>
            </a:lvl5pPr>
            <a:lvl6pPr marL="1890030" indent="0">
              <a:buNone/>
              <a:defRPr sz="1323" b="1"/>
            </a:lvl6pPr>
            <a:lvl7pPr marL="2268037" indent="0">
              <a:buNone/>
              <a:defRPr sz="1323" b="1"/>
            </a:lvl7pPr>
            <a:lvl8pPr marL="2646043" indent="0">
              <a:buNone/>
              <a:defRPr sz="1323" b="1"/>
            </a:lvl8pPr>
            <a:lvl9pPr marL="3024050"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4" y="3905483"/>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7" y="2620983"/>
            <a:ext cx="3213847" cy="1284503"/>
          </a:xfrm>
        </p:spPr>
        <p:txBody>
          <a:bodyPr anchor="b"/>
          <a:lstStyle>
            <a:lvl1pPr marL="0" indent="0">
              <a:buNone/>
              <a:defRPr sz="1984" b="1"/>
            </a:lvl1pPr>
            <a:lvl2pPr marL="378006" indent="0">
              <a:buNone/>
              <a:defRPr sz="1653" b="1"/>
            </a:lvl2pPr>
            <a:lvl3pPr marL="756012" indent="0">
              <a:buNone/>
              <a:defRPr sz="1488" b="1"/>
            </a:lvl3pPr>
            <a:lvl4pPr marL="1134019" indent="0">
              <a:buNone/>
              <a:defRPr sz="1323" b="1"/>
            </a:lvl4pPr>
            <a:lvl5pPr marL="1512025" indent="0">
              <a:buNone/>
              <a:defRPr sz="1323" b="1"/>
            </a:lvl5pPr>
            <a:lvl6pPr marL="1890030" indent="0">
              <a:buNone/>
              <a:defRPr sz="1323" b="1"/>
            </a:lvl6pPr>
            <a:lvl7pPr marL="2268037" indent="0">
              <a:buNone/>
              <a:defRPr sz="1323" b="1"/>
            </a:lvl7pPr>
            <a:lvl8pPr marL="2646043" indent="0">
              <a:buNone/>
              <a:defRPr sz="1323" b="1"/>
            </a:lvl8pPr>
            <a:lvl9pPr marL="3024050"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7" y="3905483"/>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AFF525-C185-4C7A-A5D3-1770C5A6EA79}" type="datetime1">
              <a:rPr lang="en-GB" smtClean="0"/>
              <a:t>30/12/2025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1682120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0DA70D-9C40-44D7-BC70-830B625CF9BD}" type="datetime1">
              <a:rPr lang="en-GB" smtClean="0"/>
              <a:t>30/12/2025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827057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4ED2ED-8EB6-48D8-B3E3-3D0A19C398EB}" type="datetime1">
              <a:rPr lang="en-GB" smtClean="0"/>
              <a:t>30/12/2025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2765194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9"/>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9"/>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5"/>
            <a:ext cx="2438192" cy="5942372"/>
          </a:xfrm>
        </p:spPr>
        <p:txBody>
          <a:bodyPr/>
          <a:lstStyle>
            <a:lvl1pPr marL="0" indent="0">
              <a:buNone/>
              <a:defRPr sz="1323"/>
            </a:lvl1pPr>
            <a:lvl2pPr marL="378006" indent="0">
              <a:buNone/>
              <a:defRPr sz="1157"/>
            </a:lvl2pPr>
            <a:lvl3pPr marL="756012" indent="0">
              <a:buNone/>
              <a:defRPr sz="992"/>
            </a:lvl3pPr>
            <a:lvl4pPr marL="1134019" indent="0">
              <a:buNone/>
              <a:defRPr sz="827"/>
            </a:lvl4pPr>
            <a:lvl5pPr marL="1512025" indent="0">
              <a:buNone/>
              <a:defRPr sz="827"/>
            </a:lvl5pPr>
            <a:lvl6pPr marL="1890030" indent="0">
              <a:buNone/>
              <a:defRPr sz="827"/>
            </a:lvl6pPr>
            <a:lvl7pPr marL="2268037" indent="0">
              <a:buNone/>
              <a:defRPr sz="827"/>
            </a:lvl7pPr>
            <a:lvl8pPr marL="2646043" indent="0">
              <a:buNone/>
              <a:defRPr sz="827"/>
            </a:lvl8pPr>
            <a:lvl9pPr marL="3024050"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B1883174-EF37-4EEA-95AC-2F94414C2944}" type="datetime1">
              <a:rPr lang="en-GB" smtClean="0"/>
              <a:t>30/12/2025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34092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9"/>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9"/>
            <a:ext cx="3827085" cy="7598117"/>
          </a:xfrm>
        </p:spPr>
        <p:txBody>
          <a:bodyPr anchor="t"/>
          <a:lstStyle>
            <a:lvl1pPr marL="0" indent="0">
              <a:buNone/>
              <a:defRPr sz="2645"/>
            </a:lvl1pPr>
            <a:lvl2pPr marL="378006" indent="0">
              <a:buNone/>
              <a:defRPr sz="2315"/>
            </a:lvl2pPr>
            <a:lvl3pPr marL="756012" indent="0">
              <a:buNone/>
              <a:defRPr sz="1984"/>
            </a:lvl3pPr>
            <a:lvl4pPr marL="1134019" indent="0">
              <a:buNone/>
              <a:defRPr sz="1653"/>
            </a:lvl4pPr>
            <a:lvl5pPr marL="1512025" indent="0">
              <a:buNone/>
              <a:defRPr sz="1653"/>
            </a:lvl5pPr>
            <a:lvl6pPr marL="1890030" indent="0">
              <a:buNone/>
              <a:defRPr sz="1653"/>
            </a:lvl6pPr>
            <a:lvl7pPr marL="2268037" indent="0">
              <a:buNone/>
              <a:defRPr sz="1653"/>
            </a:lvl7pPr>
            <a:lvl8pPr marL="2646043" indent="0">
              <a:buNone/>
              <a:defRPr sz="1653"/>
            </a:lvl8pPr>
            <a:lvl9pPr marL="3024050"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5"/>
            <a:ext cx="2438192" cy="5942372"/>
          </a:xfrm>
        </p:spPr>
        <p:txBody>
          <a:bodyPr/>
          <a:lstStyle>
            <a:lvl1pPr marL="0" indent="0">
              <a:buNone/>
              <a:defRPr sz="1323"/>
            </a:lvl1pPr>
            <a:lvl2pPr marL="378006" indent="0">
              <a:buNone/>
              <a:defRPr sz="1157"/>
            </a:lvl2pPr>
            <a:lvl3pPr marL="756012" indent="0">
              <a:buNone/>
              <a:defRPr sz="992"/>
            </a:lvl3pPr>
            <a:lvl4pPr marL="1134019" indent="0">
              <a:buNone/>
              <a:defRPr sz="827"/>
            </a:lvl4pPr>
            <a:lvl5pPr marL="1512025" indent="0">
              <a:buNone/>
              <a:defRPr sz="827"/>
            </a:lvl5pPr>
            <a:lvl6pPr marL="1890030" indent="0">
              <a:buNone/>
              <a:defRPr sz="827"/>
            </a:lvl6pPr>
            <a:lvl7pPr marL="2268037" indent="0">
              <a:buNone/>
              <a:defRPr sz="827"/>
            </a:lvl7pPr>
            <a:lvl8pPr marL="2646043" indent="0">
              <a:buNone/>
              <a:defRPr sz="827"/>
            </a:lvl8pPr>
            <a:lvl9pPr marL="3024050"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6D94B49B-1074-49FD-A9FC-E48F2487CAB1}" type="datetime1">
              <a:rPr lang="en-GB" smtClean="0"/>
              <a:t>30/12/2025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3218634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3CE64D-495E-4D16-A2CD-2094228FAC60}"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1103169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4"/>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31" y="569244"/>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10654F-80EE-417F-8F96-2331A95DF77B}" type="datetime1">
              <a:rPr lang="en-GB" smtClean="0"/>
              <a:t>30/12/2025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A34D9C-0834-4D8C-8D05-A23100FF43C5}" type="slidenum">
              <a:rPr lang="en-GB" smtClean="0"/>
              <a:t>‹#›</a:t>
            </a:fld>
            <a:endParaRPr lang="en-GB"/>
          </a:p>
        </p:txBody>
      </p:sp>
    </p:spTree>
    <p:extLst>
      <p:ext uri="{BB962C8B-B14F-4D97-AF65-F5344CB8AC3E}">
        <p14:creationId xmlns:p14="http://schemas.microsoft.com/office/powerpoint/2010/main" val="3809937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9"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9" y="2846202"/>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CAFBDB53-3820-414F-91CA-D1B665EDC424}" type="datetime1">
              <a:rPr lang="en-GB" smtClean="0"/>
              <a:t>30/12/2025</a:t>
            </a:fld>
            <a:endParaRPr lang="en-GB"/>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40A34D9C-0834-4D8C-8D05-A23100FF43C5}" type="slidenum">
              <a:rPr lang="en-GB" smtClean="0"/>
              <a:t>‹#›</a:t>
            </a:fld>
            <a:endParaRPr lang="en-GB"/>
          </a:p>
        </p:txBody>
      </p:sp>
    </p:spTree>
    <p:extLst>
      <p:ext uri="{BB962C8B-B14F-4D97-AF65-F5344CB8AC3E}">
        <p14:creationId xmlns:p14="http://schemas.microsoft.com/office/powerpoint/2010/main" val="7450658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756012"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9004" indent="-189004" algn="l" defTabSz="756012"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09" indent="-189004" algn="l" defTabSz="756012"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5016" indent="-189004" algn="l" defTabSz="756012"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3021" indent="-189004" algn="l" defTabSz="756012"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027" indent="-189004" algn="l" defTabSz="756012"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034" indent="-189004" algn="l" defTabSz="756012"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040" indent="-189004" algn="l" defTabSz="756012"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046" indent="-189004" algn="l" defTabSz="756012"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053" indent="-189004" algn="l" defTabSz="756012"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012" rtl="0" eaLnBrk="1" latinLnBrk="0" hangingPunct="1">
        <a:defRPr sz="1488" kern="1200">
          <a:solidFill>
            <a:schemeClr val="tx1"/>
          </a:solidFill>
          <a:latin typeface="+mn-lt"/>
          <a:ea typeface="+mn-ea"/>
          <a:cs typeface="+mn-cs"/>
        </a:defRPr>
      </a:lvl1pPr>
      <a:lvl2pPr marL="378006" algn="l" defTabSz="756012" rtl="0" eaLnBrk="1" latinLnBrk="0" hangingPunct="1">
        <a:defRPr sz="1488" kern="1200">
          <a:solidFill>
            <a:schemeClr val="tx1"/>
          </a:solidFill>
          <a:latin typeface="+mn-lt"/>
          <a:ea typeface="+mn-ea"/>
          <a:cs typeface="+mn-cs"/>
        </a:defRPr>
      </a:lvl2pPr>
      <a:lvl3pPr marL="756012" algn="l" defTabSz="756012" rtl="0" eaLnBrk="1" latinLnBrk="0" hangingPunct="1">
        <a:defRPr sz="1488" kern="1200">
          <a:solidFill>
            <a:schemeClr val="tx1"/>
          </a:solidFill>
          <a:latin typeface="+mn-lt"/>
          <a:ea typeface="+mn-ea"/>
          <a:cs typeface="+mn-cs"/>
        </a:defRPr>
      </a:lvl3pPr>
      <a:lvl4pPr marL="1134019" algn="l" defTabSz="756012" rtl="0" eaLnBrk="1" latinLnBrk="0" hangingPunct="1">
        <a:defRPr sz="1488" kern="1200">
          <a:solidFill>
            <a:schemeClr val="tx1"/>
          </a:solidFill>
          <a:latin typeface="+mn-lt"/>
          <a:ea typeface="+mn-ea"/>
          <a:cs typeface="+mn-cs"/>
        </a:defRPr>
      </a:lvl4pPr>
      <a:lvl5pPr marL="1512025" algn="l" defTabSz="756012" rtl="0" eaLnBrk="1" latinLnBrk="0" hangingPunct="1">
        <a:defRPr sz="1488" kern="1200">
          <a:solidFill>
            <a:schemeClr val="tx1"/>
          </a:solidFill>
          <a:latin typeface="+mn-lt"/>
          <a:ea typeface="+mn-ea"/>
          <a:cs typeface="+mn-cs"/>
        </a:defRPr>
      </a:lvl5pPr>
      <a:lvl6pPr marL="1890030" algn="l" defTabSz="756012" rtl="0" eaLnBrk="1" latinLnBrk="0" hangingPunct="1">
        <a:defRPr sz="1488" kern="1200">
          <a:solidFill>
            <a:schemeClr val="tx1"/>
          </a:solidFill>
          <a:latin typeface="+mn-lt"/>
          <a:ea typeface="+mn-ea"/>
          <a:cs typeface="+mn-cs"/>
        </a:defRPr>
      </a:lvl6pPr>
      <a:lvl7pPr marL="2268037" algn="l" defTabSz="756012" rtl="0" eaLnBrk="1" latinLnBrk="0" hangingPunct="1">
        <a:defRPr sz="1488" kern="1200">
          <a:solidFill>
            <a:schemeClr val="tx1"/>
          </a:solidFill>
          <a:latin typeface="+mn-lt"/>
          <a:ea typeface="+mn-ea"/>
          <a:cs typeface="+mn-cs"/>
        </a:defRPr>
      </a:lvl7pPr>
      <a:lvl8pPr marL="2646043" algn="l" defTabSz="756012" rtl="0" eaLnBrk="1" latinLnBrk="0" hangingPunct="1">
        <a:defRPr sz="1488" kern="1200">
          <a:solidFill>
            <a:schemeClr val="tx1"/>
          </a:solidFill>
          <a:latin typeface="+mn-lt"/>
          <a:ea typeface="+mn-ea"/>
          <a:cs typeface="+mn-cs"/>
        </a:defRPr>
      </a:lvl8pPr>
      <a:lvl9pPr marL="3024050" algn="l" defTabSz="756012"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A46F3230-9670-355D-F29B-E5419888CF18}"/>
              </a:ext>
            </a:extLst>
          </p:cNvPr>
          <p:cNvSpPr/>
          <p:nvPr/>
        </p:nvSpPr>
        <p:spPr>
          <a:xfrm>
            <a:off x="416690" y="1510878"/>
            <a:ext cx="6748040" cy="7378479"/>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C4D7B9A-717F-C7E8-31AC-36C5A3B2DD36}"/>
              </a:ext>
            </a:extLst>
          </p:cNvPr>
          <p:cNvSpPr txBox="1"/>
          <p:nvPr/>
        </p:nvSpPr>
        <p:spPr>
          <a:xfrm>
            <a:off x="3497511" y="9529707"/>
            <a:ext cx="3924160" cy="1015663"/>
          </a:xfrm>
          <a:prstGeom prst="rect">
            <a:avLst/>
          </a:prstGeom>
          <a:noFill/>
        </p:spPr>
        <p:txBody>
          <a:bodyPr wrap="square" rtlCol="0">
            <a:spAutoFit/>
          </a:bodyPr>
          <a:lstStyle/>
          <a:p>
            <a:pPr algn="r">
              <a:spcAft>
                <a:spcPts val="600"/>
              </a:spcAft>
            </a:pPr>
            <a:r>
              <a:rPr lang="en-GB" sz="1400" b="1" i="1" dirty="0">
                <a:latin typeface="Times New Roman" panose="02020603050405020304" pitchFamily="18" charset="0"/>
                <a:cs typeface="Times New Roman" panose="02020603050405020304" pitchFamily="18" charset="0"/>
              </a:rPr>
              <a:t>February 2024</a:t>
            </a:r>
          </a:p>
          <a:p>
            <a:pPr algn="r">
              <a:spcAft>
                <a:spcPts val="600"/>
              </a:spcAft>
            </a:pPr>
            <a:r>
              <a:rPr lang="en-GB" b="1" dirty="0">
                <a:latin typeface="Times New Roman" panose="02020603050405020304" pitchFamily="18" charset="0"/>
                <a:cs typeface="Times New Roman" panose="02020603050405020304" pitchFamily="18" charset="0"/>
              </a:rPr>
              <a:t>The Complete Report</a:t>
            </a:r>
          </a:p>
          <a:p>
            <a:pPr algn="r">
              <a:spcAft>
                <a:spcPts val="600"/>
              </a:spcAft>
            </a:pPr>
            <a:r>
              <a:rPr lang="en-GB" b="1" dirty="0">
                <a:solidFill>
                  <a:srgbClr val="9F0B2D"/>
                </a:solidFill>
                <a:latin typeface="Times New Roman" panose="02020603050405020304" pitchFamily="18" charset="0"/>
                <a:cs typeface="Times New Roman" panose="02020603050405020304" pitchFamily="18" charset="0"/>
              </a:rPr>
              <a:t>2 Bondgate, Harewood LS17 9LN</a:t>
            </a:r>
          </a:p>
        </p:txBody>
      </p:sp>
      <p:grpSp>
        <p:nvGrpSpPr>
          <p:cNvPr id="13" name="Group 12">
            <a:extLst>
              <a:ext uri="{FF2B5EF4-FFF2-40B4-BE49-F238E27FC236}">
                <a16:creationId xmlns:a16="http://schemas.microsoft.com/office/drawing/2014/main" id="{11117611-5E2A-FDE1-7F48-306A20C96AA8}"/>
              </a:ext>
            </a:extLst>
          </p:cNvPr>
          <p:cNvGrpSpPr/>
          <p:nvPr/>
        </p:nvGrpSpPr>
        <p:grpSpPr>
          <a:xfrm>
            <a:off x="630437" y="1564424"/>
            <a:ext cx="6320545" cy="7289895"/>
            <a:chOff x="651753" y="1582103"/>
            <a:chExt cx="6320545" cy="7289895"/>
          </a:xfrm>
        </p:grpSpPr>
        <p:pic>
          <p:nvPicPr>
            <p:cNvPr id="10" name="Picture 9" descr="A map of a town&#10;&#10;AI-generated content may be incorrect.">
              <a:extLst>
                <a:ext uri="{FF2B5EF4-FFF2-40B4-BE49-F238E27FC236}">
                  <a16:creationId xmlns:a16="http://schemas.microsoft.com/office/drawing/2014/main" id="{6816CAA0-81A6-EC5D-60D5-78179085B18F}"/>
                </a:ext>
              </a:extLst>
            </p:cNvPr>
            <p:cNvPicPr>
              <a:picLocks noChangeAspect="1"/>
            </p:cNvPicPr>
            <p:nvPr/>
          </p:nvPicPr>
          <p:blipFill>
            <a:blip r:embed="rId2"/>
            <a:srcRect l="913" t="13861" r="1099" b="16967"/>
            <a:stretch>
              <a:fillRect/>
            </a:stretch>
          </p:blipFill>
          <p:spPr>
            <a:xfrm>
              <a:off x="739773" y="1582103"/>
              <a:ext cx="6080125" cy="7218669"/>
            </a:xfrm>
            <a:prstGeom prst="rect">
              <a:avLst/>
            </a:prstGeom>
          </p:spPr>
        </p:pic>
        <p:sp>
          <p:nvSpPr>
            <p:cNvPr id="11" name="Rectangle 10">
              <a:extLst>
                <a:ext uri="{FF2B5EF4-FFF2-40B4-BE49-F238E27FC236}">
                  <a16:creationId xmlns:a16="http://schemas.microsoft.com/office/drawing/2014/main" id="{6572397A-0823-E932-356E-8AD9FE583153}"/>
                </a:ext>
              </a:extLst>
            </p:cNvPr>
            <p:cNvSpPr/>
            <p:nvPr/>
          </p:nvSpPr>
          <p:spPr>
            <a:xfrm>
              <a:off x="651753" y="8618707"/>
              <a:ext cx="3618690" cy="2112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125D6606-6B67-A436-5D8C-36E6B24B3A8C}"/>
                </a:ext>
              </a:extLst>
            </p:cNvPr>
            <p:cNvSpPr/>
            <p:nvPr/>
          </p:nvSpPr>
          <p:spPr>
            <a:xfrm>
              <a:off x="3353608" y="8771108"/>
              <a:ext cx="3618690" cy="1008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 name="Picture 1">
            <a:extLst>
              <a:ext uri="{FF2B5EF4-FFF2-40B4-BE49-F238E27FC236}">
                <a16:creationId xmlns:a16="http://schemas.microsoft.com/office/drawing/2014/main" id="{A97FEE25-2756-EC01-596A-DDF085B77C0A}"/>
              </a:ext>
            </a:extLst>
          </p:cNvPr>
          <p:cNvPicPr>
            <a:picLocks noChangeAspect="1"/>
          </p:cNvPicPr>
          <p:nvPr/>
        </p:nvPicPr>
        <p:blipFill>
          <a:blip r:embed="rId3"/>
          <a:stretch>
            <a:fillRect/>
          </a:stretch>
        </p:blipFill>
        <p:spPr>
          <a:xfrm>
            <a:off x="1888574" y="146443"/>
            <a:ext cx="3782525" cy="1254170"/>
          </a:xfrm>
          <a:prstGeom prst="rect">
            <a:avLst/>
          </a:prstGeom>
        </p:spPr>
      </p:pic>
    </p:spTree>
    <p:extLst>
      <p:ext uri="{BB962C8B-B14F-4D97-AF65-F5344CB8AC3E}">
        <p14:creationId xmlns:p14="http://schemas.microsoft.com/office/powerpoint/2010/main" val="3745779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0FAE37-8BEC-18CF-4E10-A34DBDF67C5A}"/>
              </a:ext>
            </a:extLst>
          </p:cNvPr>
          <p:cNvPicPr>
            <a:picLocks noChangeAspect="1"/>
          </p:cNvPicPr>
          <p:nvPr/>
        </p:nvPicPr>
        <p:blipFill>
          <a:blip r:embed="rId2"/>
          <a:stretch>
            <a:fillRect/>
          </a:stretch>
        </p:blipFill>
        <p:spPr>
          <a:xfrm>
            <a:off x="4628391" y="180000"/>
            <a:ext cx="2751284" cy="912242"/>
          </a:xfrm>
          <a:prstGeom prst="rect">
            <a:avLst/>
          </a:prstGeom>
        </p:spPr>
      </p:pic>
      <p:sp>
        <p:nvSpPr>
          <p:cNvPr id="7" name="TextBox 6">
            <a:extLst>
              <a:ext uri="{FF2B5EF4-FFF2-40B4-BE49-F238E27FC236}">
                <a16:creationId xmlns:a16="http://schemas.microsoft.com/office/drawing/2014/main" id="{A7B0B4A6-956F-B03E-DBC9-F7F3886433A1}"/>
              </a:ext>
            </a:extLst>
          </p:cNvPr>
          <p:cNvSpPr txBox="1"/>
          <p:nvPr/>
        </p:nvSpPr>
        <p:spPr>
          <a:xfrm>
            <a:off x="243840" y="1120851"/>
            <a:ext cx="7025063" cy="1434624"/>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Yorkshire Property Report has been instructed by </a:t>
            </a: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Mrs X XXXXX </a:t>
            </a:r>
            <a:r>
              <a:rPr lang="en-GB" sz="1400" kern="100" dirty="0">
                <a:latin typeface="Times New Roman" panose="02020603050405020304" pitchFamily="18" charset="0"/>
                <a:ea typeface="Calibri" panose="020F0502020204030204" pitchFamily="34" charset="0"/>
                <a:cs typeface="Times New Roman" panose="02020603050405020304" pitchFamily="18" charset="0"/>
              </a:rPr>
              <a:t>to review of </a:t>
            </a: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2 Bondgate, Harewood LS17 9LN. </a:t>
            </a:r>
            <a:r>
              <a:rPr lang="en-GB" sz="1400" kern="100" dirty="0">
                <a:latin typeface="Times New Roman" panose="02020603050405020304" pitchFamily="18" charset="0"/>
                <a:ea typeface="Calibri" panose="020F0502020204030204" pitchFamily="34" charset="0"/>
                <a:cs typeface="Times New Roman" panose="02020603050405020304" pitchFamily="18" charset="0"/>
              </a:rPr>
              <a:t>This report will: </a:t>
            </a:r>
          </a:p>
          <a:p>
            <a:pPr marL="285750" indent="-285750">
              <a:lnSpc>
                <a:spcPct val="107000"/>
              </a:lnSpc>
              <a:spcAft>
                <a:spcPts val="400"/>
              </a:spcAft>
              <a:buFontTx/>
              <a:buChar char="-"/>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Assess whether the asking price is fair</a:t>
            </a:r>
          </a:p>
          <a:p>
            <a:pPr marL="285750" indent="-285750">
              <a:lnSpc>
                <a:spcPct val="107000"/>
              </a:lnSpc>
              <a:spcAft>
                <a:spcPts val="400"/>
              </a:spcAft>
              <a:buFontTx/>
              <a:buChar char="-"/>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Identify the nearest affordable house to 2 Bondgate, Harewood</a:t>
            </a:r>
          </a:p>
          <a:p>
            <a:pPr marL="285750" indent="-285750">
              <a:lnSpc>
                <a:spcPct val="107000"/>
              </a:lnSpc>
              <a:spcAft>
                <a:spcPts val="400"/>
              </a:spcAft>
              <a:buFontTx/>
              <a:buChar char="-"/>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Compare crime levels between 2 Bondgate, Harewood and [</a:t>
            </a: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your current address</a:t>
            </a:r>
            <a:r>
              <a:rPr lang="en-GB" sz="1400" kern="100" dirty="0">
                <a:latin typeface="Times New Roman" panose="02020603050405020304" pitchFamily="18" charset="0"/>
                <a:ea typeface="Calibri" panose="020F0502020204030204" pitchFamily="34" charset="0"/>
                <a:cs typeface="Times New Roman" panose="02020603050405020304" pitchFamily="18" charset="0"/>
              </a:rPr>
              <a:t>]</a:t>
            </a:r>
          </a:p>
        </p:txBody>
      </p:sp>
      <p:cxnSp>
        <p:nvCxnSpPr>
          <p:cNvPr id="11" name="Straight Connector 10">
            <a:extLst>
              <a:ext uri="{FF2B5EF4-FFF2-40B4-BE49-F238E27FC236}">
                <a16:creationId xmlns:a16="http://schemas.microsoft.com/office/drawing/2014/main" id="{7BF65C04-7C26-DF7F-16D1-5429BD2B9738}"/>
              </a:ext>
            </a:extLst>
          </p:cNvPr>
          <p:cNvCxnSpPr/>
          <p:nvPr/>
        </p:nvCxnSpPr>
        <p:spPr>
          <a:xfrm>
            <a:off x="243844" y="2697625"/>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79372B7-6B80-A323-FABA-EB092E717B06}"/>
              </a:ext>
            </a:extLst>
          </p:cNvPr>
          <p:cNvCxnSpPr/>
          <p:nvPr/>
        </p:nvCxnSpPr>
        <p:spPr>
          <a:xfrm>
            <a:off x="244129" y="1023570"/>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CCB6845-7371-7AAF-7629-73136216A8E6}"/>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2" name="Slide Number Placeholder 5">
            <a:extLst>
              <a:ext uri="{FF2B5EF4-FFF2-40B4-BE49-F238E27FC236}">
                <a16:creationId xmlns:a16="http://schemas.microsoft.com/office/drawing/2014/main" id="{1D53C4F5-E8F8-08A3-F7BC-641B9E023378}"/>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2</a:t>
            </a:fld>
            <a:endParaRPr lang="en-GB" sz="1100" dirty="0"/>
          </a:p>
        </p:txBody>
      </p:sp>
      <p:sp>
        <p:nvSpPr>
          <p:cNvPr id="12" name="TextBox 11">
            <a:extLst>
              <a:ext uri="{FF2B5EF4-FFF2-40B4-BE49-F238E27FC236}">
                <a16:creationId xmlns:a16="http://schemas.microsoft.com/office/drawing/2014/main" id="{662E2E10-491C-CB64-513B-9C7DE4D541CF}"/>
              </a:ext>
            </a:extLst>
          </p:cNvPr>
          <p:cNvSpPr txBox="1"/>
          <p:nvPr/>
        </p:nvSpPr>
        <p:spPr>
          <a:xfrm>
            <a:off x="244129" y="2853256"/>
            <a:ext cx="7025061" cy="307392"/>
          </a:xfrm>
          <a:prstGeom prst="rect">
            <a:avLst/>
          </a:prstGeom>
          <a:noFill/>
        </p:spPr>
        <p:txBody>
          <a:bodyPr wrap="square">
            <a:spAutoFit/>
          </a:bodyPr>
          <a:lstStyle/>
          <a:p>
            <a:pPr>
              <a:lnSpc>
                <a:spcPct val="107000"/>
              </a:lnSpc>
              <a:spcAft>
                <a:spcPts val="800"/>
              </a:spcAft>
            </a:pP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 MARKET VALUE</a:t>
            </a:r>
          </a:p>
        </p:txBody>
      </p:sp>
      <p:sp>
        <p:nvSpPr>
          <p:cNvPr id="13" name="TextBox 12">
            <a:extLst>
              <a:ext uri="{FF2B5EF4-FFF2-40B4-BE49-F238E27FC236}">
                <a16:creationId xmlns:a16="http://schemas.microsoft.com/office/drawing/2014/main" id="{F660D10F-BEA7-3878-2E6D-9C98BCDFADB6}"/>
              </a:ext>
            </a:extLst>
          </p:cNvPr>
          <p:cNvSpPr txBox="1"/>
          <p:nvPr/>
        </p:nvSpPr>
        <p:spPr>
          <a:xfrm>
            <a:off x="556741" y="3236037"/>
            <a:ext cx="6677436" cy="537904"/>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2 Bondgate was last sold on 08.02.2006 for £140,000. Using Nationwide’s house price calculator (which adjusts for location), the property would now be worth around £</a:t>
            </a: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197,538.</a:t>
            </a:r>
          </a:p>
        </p:txBody>
      </p:sp>
      <p:sp>
        <p:nvSpPr>
          <p:cNvPr id="14" name="TextBox 13">
            <a:extLst>
              <a:ext uri="{FF2B5EF4-FFF2-40B4-BE49-F238E27FC236}">
                <a16:creationId xmlns:a16="http://schemas.microsoft.com/office/drawing/2014/main" id="{AF6A75C3-B78B-5427-84E0-E88CF2A1DD11}"/>
              </a:ext>
            </a:extLst>
          </p:cNvPr>
          <p:cNvSpPr txBox="1"/>
          <p:nvPr/>
        </p:nvSpPr>
        <p:spPr>
          <a:xfrm>
            <a:off x="108415" y="3242924"/>
            <a:ext cx="448326" cy="307392"/>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1.1</a:t>
            </a:r>
          </a:p>
        </p:txBody>
      </p:sp>
      <p:sp>
        <p:nvSpPr>
          <p:cNvPr id="16" name="TextBox 15">
            <a:extLst>
              <a:ext uri="{FF2B5EF4-FFF2-40B4-BE49-F238E27FC236}">
                <a16:creationId xmlns:a16="http://schemas.microsoft.com/office/drawing/2014/main" id="{7AD5AC54-2BF9-E3A9-285C-ED44F0EF31B6}"/>
              </a:ext>
            </a:extLst>
          </p:cNvPr>
          <p:cNvSpPr txBox="1"/>
          <p:nvPr/>
        </p:nvSpPr>
        <p:spPr>
          <a:xfrm>
            <a:off x="556742" y="3846493"/>
            <a:ext cx="6677436" cy="768415"/>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We have done our own thorough review of the recent sales in Harewood. Direct comparable homes were difficult to find, and in the last 12 months, only four properties within a 0.5mile radius have sold (see below).</a:t>
            </a:r>
          </a:p>
        </p:txBody>
      </p:sp>
      <p:sp>
        <p:nvSpPr>
          <p:cNvPr id="17" name="TextBox 16">
            <a:extLst>
              <a:ext uri="{FF2B5EF4-FFF2-40B4-BE49-F238E27FC236}">
                <a16:creationId xmlns:a16="http://schemas.microsoft.com/office/drawing/2014/main" id="{B9213D48-5625-4FED-6F38-7648460D34E3}"/>
              </a:ext>
            </a:extLst>
          </p:cNvPr>
          <p:cNvSpPr txBox="1"/>
          <p:nvPr/>
        </p:nvSpPr>
        <p:spPr>
          <a:xfrm>
            <a:off x="108415" y="3868115"/>
            <a:ext cx="448326" cy="307392"/>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1.2</a:t>
            </a:r>
          </a:p>
        </p:txBody>
      </p:sp>
      <p:pic>
        <p:nvPicPr>
          <p:cNvPr id="19" name="Picture 18" descr="A map of a town&#10;&#10;AI-generated content may be incorrect.">
            <a:extLst>
              <a:ext uri="{FF2B5EF4-FFF2-40B4-BE49-F238E27FC236}">
                <a16:creationId xmlns:a16="http://schemas.microsoft.com/office/drawing/2014/main" id="{0A2A2184-A5FB-33B2-6E84-C0008FB63FED}"/>
              </a:ext>
            </a:extLst>
          </p:cNvPr>
          <p:cNvPicPr>
            <a:picLocks noChangeAspect="1"/>
          </p:cNvPicPr>
          <p:nvPr/>
        </p:nvPicPr>
        <p:blipFill>
          <a:blip r:embed="rId3"/>
          <a:srcRect b="7191"/>
          <a:stretch>
            <a:fillRect/>
          </a:stretch>
        </p:blipFill>
        <p:spPr>
          <a:xfrm>
            <a:off x="753831" y="4769711"/>
            <a:ext cx="6005080" cy="5311574"/>
          </a:xfrm>
          <a:prstGeom prst="rect">
            <a:avLst/>
          </a:prstGeom>
        </p:spPr>
      </p:pic>
      <p:sp>
        <p:nvSpPr>
          <p:cNvPr id="6" name="Speech Bubble: Oval 5">
            <a:extLst>
              <a:ext uri="{FF2B5EF4-FFF2-40B4-BE49-F238E27FC236}">
                <a16:creationId xmlns:a16="http://schemas.microsoft.com/office/drawing/2014/main" id="{D4377D37-0660-B98F-3542-87F33CBBFC50}"/>
              </a:ext>
            </a:extLst>
          </p:cNvPr>
          <p:cNvSpPr/>
          <p:nvPr/>
        </p:nvSpPr>
        <p:spPr>
          <a:xfrm>
            <a:off x="3928110" y="8333047"/>
            <a:ext cx="190500" cy="183710"/>
          </a:xfrm>
          <a:prstGeom prst="wedgeEllipseCallout">
            <a:avLst>
              <a:gd name="adj1" fmla="val 3167"/>
              <a:gd name="adj2" fmla="val 9525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96FF5671-0A65-3239-7A53-63981B90C66C}"/>
              </a:ext>
            </a:extLst>
          </p:cNvPr>
          <p:cNvSpPr txBox="1"/>
          <p:nvPr/>
        </p:nvSpPr>
        <p:spPr>
          <a:xfrm>
            <a:off x="3903000" y="8304777"/>
            <a:ext cx="215531" cy="230832"/>
          </a:xfrm>
          <a:prstGeom prst="rect">
            <a:avLst/>
          </a:prstGeom>
          <a:noFill/>
        </p:spPr>
        <p:txBody>
          <a:bodyPr wrap="square" rtlCol="0">
            <a:spAutoFit/>
          </a:bodyPr>
          <a:lstStyle/>
          <a:p>
            <a:r>
              <a:rPr lang="en-GB" sz="900" b="1" dirty="0">
                <a:solidFill>
                  <a:schemeClr val="bg1"/>
                </a:solidFill>
              </a:rPr>
              <a:t>4</a:t>
            </a:r>
          </a:p>
        </p:txBody>
      </p:sp>
      <p:sp>
        <p:nvSpPr>
          <p:cNvPr id="15" name="Speech Bubble: Oval 14">
            <a:extLst>
              <a:ext uri="{FF2B5EF4-FFF2-40B4-BE49-F238E27FC236}">
                <a16:creationId xmlns:a16="http://schemas.microsoft.com/office/drawing/2014/main" id="{DEE7A09E-3867-10A4-0130-8997C7E70CD4}"/>
              </a:ext>
            </a:extLst>
          </p:cNvPr>
          <p:cNvSpPr/>
          <p:nvPr/>
        </p:nvSpPr>
        <p:spPr>
          <a:xfrm>
            <a:off x="2913593" y="5500883"/>
            <a:ext cx="190500" cy="183710"/>
          </a:xfrm>
          <a:prstGeom prst="wedgeEllipseCallout">
            <a:avLst>
              <a:gd name="adj1" fmla="val 3167"/>
              <a:gd name="adj2" fmla="val 95259"/>
            </a:avLst>
          </a:prstGeom>
          <a:solidFill>
            <a:srgbClr val="A00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Speech Bubble: Oval 19">
            <a:extLst>
              <a:ext uri="{FF2B5EF4-FFF2-40B4-BE49-F238E27FC236}">
                <a16:creationId xmlns:a16="http://schemas.microsoft.com/office/drawing/2014/main" id="{F5AA70BD-9E9C-1EC3-49FD-A92E852F3388}"/>
              </a:ext>
            </a:extLst>
          </p:cNvPr>
          <p:cNvSpPr/>
          <p:nvPr/>
        </p:nvSpPr>
        <p:spPr>
          <a:xfrm>
            <a:off x="2713891" y="5643464"/>
            <a:ext cx="190500" cy="183710"/>
          </a:xfrm>
          <a:prstGeom prst="wedgeEllipseCallout">
            <a:avLst>
              <a:gd name="adj1" fmla="val 3167"/>
              <a:gd name="adj2" fmla="val 9525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Speech Bubble: Oval 20">
            <a:extLst>
              <a:ext uri="{FF2B5EF4-FFF2-40B4-BE49-F238E27FC236}">
                <a16:creationId xmlns:a16="http://schemas.microsoft.com/office/drawing/2014/main" id="{FD0EBB63-3623-BE00-C101-7DEFBF5C5C7C}"/>
              </a:ext>
            </a:extLst>
          </p:cNvPr>
          <p:cNvSpPr/>
          <p:nvPr/>
        </p:nvSpPr>
        <p:spPr>
          <a:xfrm>
            <a:off x="3164295" y="6531553"/>
            <a:ext cx="190500" cy="183710"/>
          </a:xfrm>
          <a:prstGeom prst="wedgeEllipseCallout">
            <a:avLst>
              <a:gd name="adj1" fmla="val 3167"/>
              <a:gd name="adj2" fmla="val 9525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2E39BCB1-A4C8-8F76-608C-6E79BCF24F4C}"/>
              </a:ext>
            </a:extLst>
          </p:cNvPr>
          <p:cNvSpPr txBox="1"/>
          <p:nvPr/>
        </p:nvSpPr>
        <p:spPr>
          <a:xfrm>
            <a:off x="3137603" y="6505695"/>
            <a:ext cx="215531" cy="230832"/>
          </a:xfrm>
          <a:prstGeom prst="rect">
            <a:avLst/>
          </a:prstGeom>
          <a:noFill/>
        </p:spPr>
        <p:txBody>
          <a:bodyPr wrap="square" rtlCol="0">
            <a:spAutoFit/>
          </a:bodyPr>
          <a:lstStyle/>
          <a:p>
            <a:r>
              <a:rPr lang="en-GB" sz="900" b="1" dirty="0">
                <a:solidFill>
                  <a:schemeClr val="bg1"/>
                </a:solidFill>
              </a:rPr>
              <a:t>2</a:t>
            </a:r>
          </a:p>
        </p:txBody>
      </p:sp>
      <p:sp>
        <p:nvSpPr>
          <p:cNvPr id="24" name="Speech Bubble: Oval 23">
            <a:extLst>
              <a:ext uri="{FF2B5EF4-FFF2-40B4-BE49-F238E27FC236}">
                <a16:creationId xmlns:a16="http://schemas.microsoft.com/office/drawing/2014/main" id="{099A3A6A-462F-9BA1-66D8-A75E801FD913}"/>
              </a:ext>
            </a:extLst>
          </p:cNvPr>
          <p:cNvSpPr/>
          <p:nvPr/>
        </p:nvSpPr>
        <p:spPr>
          <a:xfrm>
            <a:off x="4370562" y="7987130"/>
            <a:ext cx="190500" cy="183710"/>
          </a:xfrm>
          <a:prstGeom prst="wedgeEllipseCallout">
            <a:avLst>
              <a:gd name="adj1" fmla="val 3167"/>
              <a:gd name="adj2" fmla="val 9525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1DEA94CD-B475-B50D-4202-C52CA528EDB6}"/>
              </a:ext>
            </a:extLst>
          </p:cNvPr>
          <p:cNvSpPr txBox="1"/>
          <p:nvPr/>
        </p:nvSpPr>
        <p:spPr>
          <a:xfrm>
            <a:off x="4343870" y="7967152"/>
            <a:ext cx="215531" cy="230832"/>
          </a:xfrm>
          <a:prstGeom prst="rect">
            <a:avLst/>
          </a:prstGeom>
          <a:noFill/>
        </p:spPr>
        <p:txBody>
          <a:bodyPr wrap="square" rtlCol="0">
            <a:spAutoFit/>
          </a:bodyPr>
          <a:lstStyle/>
          <a:p>
            <a:r>
              <a:rPr lang="en-GB" sz="900" b="1" dirty="0">
                <a:solidFill>
                  <a:schemeClr val="bg1"/>
                </a:solidFill>
              </a:rPr>
              <a:t>3</a:t>
            </a:r>
          </a:p>
        </p:txBody>
      </p:sp>
      <p:sp>
        <p:nvSpPr>
          <p:cNvPr id="18" name="TextBox 17">
            <a:extLst>
              <a:ext uri="{FF2B5EF4-FFF2-40B4-BE49-F238E27FC236}">
                <a16:creationId xmlns:a16="http://schemas.microsoft.com/office/drawing/2014/main" id="{C9C852C8-FF22-1A64-50BD-FA2FD39B9F24}"/>
              </a:ext>
            </a:extLst>
          </p:cNvPr>
          <p:cNvSpPr txBox="1"/>
          <p:nvPr/>
        </p:nvSpPr>
        <p:spPr>
          <a:xfrm>
            <a:off x="2688239" y="5618383"/>
            <a:ext cx="215531" cy="230832"/>
          </a:xfrm>
          <a:prstGeom prst="rect">
            <a:avLst/>
          </a:prstGeom>
          <a:noFill/>
        </p:spPr>
        <p:txBody>
          <a:bodyPr wrap="square" rtlCol="0">
            <a:spAutoFit/>
          </a:bodyPr>
          <a:lstStyle/>
          <a:p>
            <a:r>
              <a:rPr lang="en-GB" sz="900" b="1" dirty="0">
                <a:solidFill>
                  <a:schemeClr val="bg1"/>
                </a:solidFill>
              </a:rPr>
              <a:t>1</a:t>
            </a:r>
          </a:p>
        </p:txBody>
      </p:sp>
    </p:spTree>
    <p:extLst>
      <p:ext uri="{BB962C8B-B14F-4D97-AF65-F5344CB8AC3E}">
        <p14:creationId xmlns:p14="http://schemas.microsoft.com/office/powerpoint/2010/main" val="3958501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B123E6-43FF-8EB4-4868-48AB29A349F6}"/>
              </a:ext>
            </a:extLst>
          </p:cNvPr>
          <p:cNvPicPr>
            <a:picLocks noChangeAspect="1"/>
          </p:cNvPicPr>
          <p:nvPr/>
        </p:nvPicPr>
        <p:blipFill>
          <a:blip r:embed="rId3"/>
          <a:stretch>
            <a:fillRect/>
          </a:stretch>
        </p:blipFill>
        <p:spPr>
          <a:xfrm>
            <a:off x="4628391" y="180000"/>
            <a:ext cx="2751284" cy="912242"/>
          </a:xfrm>
          <a:prstGeom prst="rect">
            <a:avLst/>
          </a:prstGeom>
        </p:spPr>
      </p:pic>
      <p:cxnSp>
        <p:nvCxnSpPr>
          <p:cNvPr id="2" name="Straight Connector 1">
            <a:extLst>
              <a:ext uri="{FF2B5EF4-FFF2-40B4-BE49-F238E27FC236}">
                <a16:creationId xmlns:a16="http://schemas.microsoft.com/office/drawing/2014/main" id="{5985E053-3E48-84C5-7782-CB0BE2D3C992}"/>
              </a:ext>
            </a:extLst>
          </p:cNvPr>
          <p:cNvCxnSpPr/>
          <p:nvPr/>
        </p:nvCxnSpPr>
        <p:spPr>
          <a:xfrm>
            <a:off x="244129" y="1029376"/>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CB458B3-9220-633F-4A52-8D11B3E5B987}"/>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11" name="Slide Number Placeholder 5">
            <a:extLst>
              <a:ext uri="{FF2B5EF4-FFF2-40B4-BE49-F238E27FC236}">
                <a16:creationId xmlns:a16="http://schemas.microsoft.com/office/drawing/2014/main" id="{934513D8-DE62-5F56-C638-E4CA501A788A}"/>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3</a:t>
            </a:fld>
            <a:endParaRPr lang="en-GB" sz="1100" dirty="0"/>
          </a:p>
        </p:txBody>
      </p:sp>
      <p:pic>
        <p:nvPicPr>
          <p:cNvPr id="13" name="Picture 12">
            <a:extLst>
              <a:ext uri="{FF2B5EF4-FFF2-40B4-BE49-F238E27FC236}">
                <a16:creationId xmlns:a16="http://schemas.microsoft.com/office/drawing/2014/main" id="{BC1BC77B-9CE8-FDD7-9FC1-58E1178E5004}"/>
              </a:ext>
            </a:extLst>
          </p:cNvPr>
          <p:cNvPicPr>
            <a:picLocks noChangeAspect="1"/>
          </p:cNvPicPr>
          <p:nvPr/>
        </p:nvPicPr>
        <p:blipFill>
          <a:blip r:embed="rId4"/>
          <a:srcRect l="19026" t="2121" r="32189" b="15223"/>
          <a:stretch>
            <a:fillRect/>
          </a:stretch>
        </p:blipFill>
        <p:spPr>
          <a:xfrm>
            <a:off x="576753" y="1195766"/>
            <a:ext cx="3012080" cy="3403860"/>
          </a:xfrm>
          <a:prstGeom prst="rect">
            <a:avLst/>
          </a:prstGeom>
        </p:spPr>
      </p:pic>
      <p:sp>
        <p:nvSpPr>
          <p:cNvPr id="14" name="TextBox 13">
            <a:extLst>
              <a:ext uri="{FF2B5EF4-FFF2-40B4-BE49-F238E27FC236}">
                <a16:creationId xmlns:a16="http://schemas.microsoft.com/office/drawing/2014/main" id="{B46FFF5B-6722-E03E-05F4-415680F97195}"/>
              </a:ext>
            </a:extLst>
          </p:cNvPr>
          <p:cNvSpPr txBox="1"/>
          <p:nvPr/>
        </p:nvSpPr>
        <p:spPr>
          <a:xfrm>
            <a:off x="576508" y="4638973"/>
            <a:ext cx="906778" cy="1264705"/>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Address:</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Type:</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Date Sold: </a:t>
            </a:r>
            <a:endParaRPr lang="en-GB"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Sold For: </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Size: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 </a:t>
            </a:r>
            <a:r>
              <a:rPr lang="en-GB" sz="1200" b="1"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8C134348-2B1F-E0D5-F355-44B1111CE2B4}"/>
              </a:ext>
            </a:extLst>
          </p:cNvPr>
          <p:cNvPicPr>
            <a:picLocks noChangeAspect="1"/>
          </p:cNvPicPr>
          <p:nvPr/>
        </p:nvPicPr>
        <p:blipFill>
          <a:blip r:embed="rId5"/>
          <a:srcRect l="24912" t="14806" r="28476" b="21247"/>
          <a:stretch>
            <a:fillRect/>
          </a:stretch>
        </p:blipFill>
        <p:spPr>
          <a:xfrm>
            <a:off x="3958148" y="6024897"/>
            <a:ext cx="3170729" cy="2897120"/>
          </a:xfrm>
          <a:prstGeom prst="rect">
            <a:avLst/>
          </a:prstGeom>
        </p:spPr>
      </p:pic>
      <p:pic>
        <p:nvPicPr>
          <p:cNvPr id="17" name="Picture 16">
            <a:extLst>
              <a:ext uri="{FF2B5EF4-FFF2-40B4-BE49-F238E27FC236}">
                <a16:creationId xmlns:a16="http://schemas.microsoft.com/office/drawing/2014/main" id="{272195F2-3C81-28A2-781E-18016F206BFC}"/>
              </a:ext>
            </a:extLst>
          </p:cNvPr>
          <p:cNvPicPr>
            <a:picLocks noChangeAspect="1"/>
          </p:cNvPicPr>
          <p:nvPr/>
        </p:nvPicPr>
        <p:blipFill>
          <a:blip r:embed="rId6"/>
          <a:srcRect l="26662" t="6462" r="27206" b="18631"/>
          <a:stretch>
            <a:fillRect/>
          </a:stretch>
        </p:blipFill>
        <p:spPr>
          <a:xfrm>
            <a:off x="3958148" y="1195765"/>
            <a:ext cx="3170729" cy="3403861"/>
          </a:xfrm>
          <a:prstGeom prst="rect">
            <a:avLst/>
          </a:prstGeom>
        </p:spPr>
      </p:pic>
      <p:sp>
        <p:nvSpPr>
          <p:cNvPr id="19" name="TextBox 18">
            <a:extLst>
              <a:ext uri="{FF2B5EF4-FFF2-40B4-BE49-F238E27FC236}">
                <a16:creationId xmlns:a16="http://schemas.microsoft.com/office/drawing/2014/main" id="{BC2EB489-C16E-9B60-1DB3-A78C7EB3C3F2}"/>
              </a:ext>
            </a:extLst>
          </p:cNvPr>
          <p:cNvSpPr txBox="1"/>
          <p:nvPr/>
        </p:nvSpPr>
        <p:spPr>
          <a:xfrm>
            <a:off x="268516" y="1153446"/>
            <a:ext cx="1955903" cy="276614"/>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1.</a:t>
            </a:r>
            <a:endParaRPr lang="en-GB" sz="1600" b="1"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A314CF8B-0743-B217-D3DF-FA7313215EB0}"/>
              </a:ext>
            </a:extLst>
          </p:cNvPr>
          <p:cNvSpPr txBox="1"/>
          <p:nvPr/>
        </p:nvSpPr>
        <p:spPr>
          <a:xfrm>
            <a:off x="3659721" y="1153446"/>
            <a:ext cx="1955903" cy="276614"/>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2.</a:t>
            </a:r>
            <a:endParaRPr lang="en-GB" sz="1600" b="1"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2FB36466-8F0E-9D35-B67C-8E5B3372A027}"/>
              </a:ext>
            </a:extLst>
          </p:cNvPr>
          <p:cNvSpPr txBox="1"/>
          <p:nvPr/>
        </p:nvSpPr>
        <p:spPr>
          <a:xfrm>
            <a:off x="243841" y="6036183"/>
            <a:ext cx="640080" cy="276614"/>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3.</a:t>
            </a:r>
            <a:endParaRPr lang="en-GB" sz="1600" b="1"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8" name="TextBox 27">
            <a:extLst>
              <a:ext uri="{FF2B5EF4-FFF2-40B4-BE49-F238E27FC236}">
                <a16:creationId xmlns:a16="http://schemas.microsoft.com/office/drawing/2014/main" id="{96D52CAD-618A-4345-7799-90DEAB88CF81}"/>
              </a:ext>
            </a:extLst>
          </p:cNvPr>
          <p:cNvSpPr txBox="1"/>
          <p:nvPr/>
        </p:nvSpPr>
        <p:spPr>
          <a:xfrm>
            <a:off x="3680919" y="6033226"/>
            <a:ext cx="1955903" cy="276614"/>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4.</a:t>
            </a:r>
            <a:endParaRPr lang="en-GB" sz="1600" b="1"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3" name="Picture 32" descr="A stone house with a lawn and bushes&#10;&#10;AI-generated content may be incorrect.">
            <a:extLst>
              <a:ext uri="{FF2B5EF4-FFF2-40B4-BE49-F238E27FC236}">
                <a16:creationId xmlns:a16="http://schemas.microsoft.com/office/drawing/2014/main" id="{1F95A034-9A5C-A780-1F44-A7562201B2AA}"/>
              </a:ext>
            </a:extLst>
          </p:cNvPr>
          <p:cNvPicPr>
            <a:picLocks noChangeAspect="1"/>
          </p:cNvPicPr>
          <p:nvPr/>
        </p:nvPicPr>
        <p:blipFill>
          <a:blip r:embed="rId7"/>
          <a:srcRect r="2097" b="8095"/>
          <a:stretch>
            <a:fillRect/>
          </a:stretch>
        </p:blipFill>
        <p:spPr>
          <a:xfrm>
            <a:off x="576508" y="6033226"/>
            <a:ext cx="3012080" cy="2888791"/>
          </a:xfrm>
          <a:prstGeom prst="rect">
            <a:avLst/>
          </a:prstGeom>
        </p:spPr>
      </p:pic>
      <p:sp>
        <p:nvSpPr>
          <p:cNvPr id="10" name="TextBox 9">
            <a:extLst>
              <a:ext uri="{FF2B5EF4-FFF2-40B4-BE49-F238E27FC236}">
                <a16:creationId xmlns:a16="http://schemas.microsoft.com/office/drawing/2014/main" id="{CC2312AD-6FC3-9F67-E394-754678684A79}"/>
              </a:ext>
            </a:extLst>
          </p:cNvPr>
          <p:cNvSpPr txBox="1"/>
          <p:nvPr/>
        </p:nvSpPr>
        <p:spPr>
          <a:xfrm>
            <a:off x="1393796" y="4638972"/>
            <a:ext cx="2194792" cy="1264705"/>
          </a:xfrm>
          <a:prstGeom prst="rect">
            <a:avLst/>
          </a:prstGeom>
          <a:noFill/>
        </p:spPr>
        <p:txBody>
          <a:bodyPr wrap="square">
            <a:spAutoFit/>
          </a:bodyPr>
          <a:lstStyle/>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10 Bondgate, LS17 9LN</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2B Semi Detached</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12.02.24</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£365,000 </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916 </a:t>
            </a:r>
            <a:r>
              <a:rPr lang="en-GB" sz="1200"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200" b="1"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£398.47</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F8AAA9EA-7E9B-BE97-4022-811A5BB292AF}"/>
              </a:ext>
            </a:extLst>
          </p:cNvPr>
          <p:cNvSpPr txBox="1"/>
          <p:nvPr/>
        </p:nvSpPr>
        <p:spPr>
          <a:xfrm>
            <a:off x="3958148" y="4629390"/>
            <a:ext cx="927606" cy="1264705"/>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Address:</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Type:</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Date Sold: </a:t>
            </a:r>
            <a:endParaRPr lang="en-GB"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Sold For: </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Size: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 </a:t>
            </a:r>
            <a:r>
              <a:rPr lang="en-GB" sz="1200" b="1"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7" name="TextBox 26">
            <a:extLst>
              <a:ext uri="{FF2B5EF4-FFF2-40B4-BE49-F238E27FC236}">
                <a16:creationId xmlns:a16="http://schemas.microsoft.com/office/drawing/2014/main" id="{7D02CF46-86BA-0CB0-7F97-F14AAA28D941}"/>
              </a:ext>
            </a:extLst>
          </p:cNvPr>
          <p:cNvSpPr txBox="1"/>
          <p:nvPr/>
        </p:nvSpPr>
        <p:spPr>
          <a:xfrm>
            <a:off x="4788463" y="4630801"/>
            <a:ext cx="2306547" cy="1264705"/>
          </a:xfrm>
          <a:prstGeom prst="rect">
            <a:avLst/>
          </a:prstGeom>
          <a:noFill/>
        </p:spPr>
        <p:txBody>
          <a:bodyPr wrap="square">
            <a:spAutoFit/>
          </a:bodyPr>
          <a:lstStyle/>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10 The Avenue, LS17 9LD</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3B End Terrace</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31.05.23</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£420,000 </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1,005 </a:t>
            </a:r>
            <a:r>
              <a:rPr lang="en-GB" sz="1200"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200" b="1"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£417.91</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794F77E5-E142-B054-D619-D6CE491B601C}"/>
              </a:ext>
            </a:extLst>
          </p:cNvPr>
          <p:cNvSpPr txBox="1"/>
          <p:nvPr/>
        </p:nvSpPr>
        <p:spPr>
          <a:xfrm>
            <a:off x="563881" y="8964672"/>
            <a:ext cx="906778" cy="1264705"/>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Address:</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Type:</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Date Sold: </a:t>
            </a:r>
            <a:endParaRPr lang="en-GB"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Sold For: </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Size: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 </a:t>
            </a:r>
            <a:r>
              <a:rPr lang="en-GB" sz="1200" b="1"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01EB37CA-68FC-FCD8-9E44-7A5AE3BCD133}"/>
              </a:ext>
            </a:extLst>
          </p:cNvPr>
          <p:cNvSpPr txBox="1"/>
          <p:nvPr/>
        </p:nvSpPr>
        <p:spPr>
          <a:xfrm>
            <a:off x="1382507" y="8958252"/>
            <a:ext cx="2206080" cy="1264705"/>
          </a:xfrm>
          <a:prstGeom prst="rect">
            <a:avLst/>
          </a:prstGeom>
          <a:noFill/>
        </p:spPr>
        <p:txBody>
          <a:bodyPr wrap="square">
            <a:spAutoFit/>
          </a:bodyPr>
          <a:lstStyle/>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91 The Avenue, LS17 9LD</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4B End Terrace</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28.02.24</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£650,000 </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2,371 </a:t>
            </a:r>
            <a:r>
              <a:rPr lang="en-GB" sz="1200"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200" b="1"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£274.14</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1" name="TextBox 30">
            <a:extLst>
              <a:ext uri="{FF2B5EF4-FFF2-40B4-BE49-F238E27FC236}">
                <a16:creationId xmlns:a16="http://schemas.microsoft.com/office/drawing/2014/main" id="{FC33D2C1-41CC-42AD-3C31-281B3AC792F9}"/>
              </a:ext>
            </a:extLst>
          </p:cNvPr>
          <p:cNvSpPr txBox="1"/>
          <p:nvPr/>
        </p:nvSpPr>
        <p:spPr>
          <a:xfrm>
            <a:off x="3958148" y="8958251"/>
            <a:ext cx="902454" cy="1264705"/>
          </a:xfrm>
          <a:prstGeom prst="rect">
            <a:avLst/>
          </a:prstGeom>
          <a:noFill/>
        </p:spPr>
        <p:txBody>
          <a:bodyPr wrap="square">
            <a:spAutoFit/>
          </a:bodyPr>
          <a:lstStyle/>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Address:</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Type:</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Date Sold: </a:t>
            </a:r>
            <a:endParaRPr lang="en-GB" sz="12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Sold For: </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Size: </a:t>
            </a:r>
          </a:p>
          <a:p>
            <a:pPr>
              <a:lnSpc>
                <a:spcPct val="107000"/>
              </a:lnSpc>
            </a:pP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 </a:t>
            </a:r>
            <a:r>
              <a:rPr lang="en-GB" sz="1200" b="1"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b="1"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2" name="TextBox 31">
            <a:extLst>
              <a:ext uri="{FF2B5EF4-FFF2-40B4-BE49-F238E27FC236}">
                <a16:creationId xmlns:a16="http://schemas.microsoft.com/office/drawing/2014/main" id="{F3CD6622-48EB-28B0-4B79-FAE44C79FB9C}"/>
              </a:ext>
            </a:extLst>
          </p:cNvPr>
          <p:cNvSpPr txBox="1"/>
          <p:nvPr/>
        </p:nvSpPr>
        <p:spPr>
          <a:xfrm>
            <a:off x="4787773" y="8968725"/>
            <a:ext cx="2341104" cy="1264705"/>
          </a:xfrm>
          <a:prstGeom prst="rect">
            <a:avLst/>
          </a:prstGeom>
          <a:noFill/>
        </p:spPr>
        <p:txBody>
          <a:bodyPr wrap="square">
            <a:spAutoFit/>
          </a:bodyPr>
          <a:lstStyle/>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28 Harrogate Road, LS17 9LH</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3B End Terrace</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27.03.23</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£303,320 </a:t>
            </a: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1,005 </a:t>
            </a:r>
            <a:r>
              <a:rPr lang="en-GB" sz="1200" kern="100" dirty="0" err="1">
                <a:latin typeface="Times New Roman" panose="02020603050405020304" pitchFamily="18" charset="0"/>
                <a:ea typeface="Calibri" panose="020F0502020204030204" pitchFamily="34" charset="0"/>
                <a:cs typeface="Times New Roman" panose="02020603050405020304" pitchFamily="18" charset="0"/>
              </a:rPr>
              <a:t>sq</a:t>
            </a:r>
            <a:r>
              <a:rPr lang="en-GB" sz="1200" kern="100" dirty="0">
                <a:latin typeface="Times New Roman" panose="02020603050405020304" pitchFamily="18" charset="0"/>
                <a:ea typeface="Calibri" panose="020F0502020204030204" pitchFamily="34" charset="0"/>
                <a:cs typeface="Times New Roman" panose="02020603050405020304" pitchFamily="18" charset="0"/>
              </a:rPr>
              <a:t> ft</a:t>
            </a:r>
            <a:endParaRPr lang="en-GB" sz="1200" b="1"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GB" sz="1200" kern="100" dirty="0">
                <a:latin typeface="Times New Roman" panose="02020603050405020304" pitchFamily="18" charset="0"/>
                <a:ea typeface="Calibri" panose="020F0502020204030204" pitchFamily="34" charset="0"/>
                <a:cs typeface="Times New Roman" panose="02020603050405020304" pitchFamily="18" charset="0"/>
              </a:rPr>
              <a:t>£382.98</a:t>
            </a:r>
            <a:endParaRPr lang="en-GB" sz="16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5082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DA3C5-4695-1B4C-1F42-01B56F8337F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DD3994-BB87-A574-29F3-48AF0ACC0E81}"/>
              </a:ext>
            </a:extLst>
          </p:cNvPr>
          <p:cNvPicPr>
            <a:picLocks noChangeAspect="1"/>
          </p:cNvPicPr>
          <p:nvPr/>
        </p:nvPicPr>
        <p:blipFill>
          <a:blip r:embed="rId3"/>
          <a:stretch>
            <a:fillRect/>
          </a:stretch>
        </p:blipFill>
        <p:spPr>
          <a:xfrm>
            <a:off x="4628391" y="180000"/>
            <a:ext cx="2751284" cy="912242"/>
          </a:xfrm>
          <a:prstGeom prst="rect">
            <a:avLst/>
          </a:prstGeom>
        </p:spPr>
      </p:pic>
      <p:cxnSp>
        <p:nvCxnSpPr>
          <p:cNvPr id="2" name="Straight Connector 1">
            <a:extLst>
              <a:ext uri="{FF2B5EF4-FFF2-40B4-BE49-F238E27FC236}">
                <a16:creationId xmlns:a16="http://schemas.microsoft.com/office/drawing/2014/main" id="{C82193D0-E2AC-DBD5-ED0A-D54808066366}"/>
              </a:ext>
            </a:extLst>
          </p:cNvPr>
          <p:cNvCxnSpPr/>
          <p:nvPr/>
        </p:nvCxnSpPr>
        <p:spPr>
          <a:xfrm>
            <a:off x="244129" y="1029376"/>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A8F186F-F2D9-51B5-B87D-BF8C2C284940}"/>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11" name="Slide Number Placeholder 5">
            <a:extLst>
              <a:ext uri="{FF2B5EF4-FFF2-40B4-BE49-F238E27FC236}">
                <a16:creationId xmlns:a16="http://schemas.microsoft.com/office/drawing/2014/main" id="{2E39E580-C60E-86B7-34CA-2CE4D96FA150}"/>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4</a:t>
            </a:fld>
            <a:endParaRPr lang="en-GB" sz="1100" dirty="0"/>
          </a:p>
        </p:txBody>
      </p:sp>
      <p:sp>
        <p:nvSpPr>
          <p:cNvPr id="5" name="TextBox 4">
            <a:extLst>
              <a:ext uri="{FF2B5EF4-FFF2-40B4-BE49-F238E27FC236}">
                <a16:creationId xmlns:a16="http://schemas.microsoft.com/office/drawing/2014/main" id="{9F5BF320-1895-675C-E7F8-7CC6F128AD56}"/>
              </a:ext>
            </a:extLst>
          </p:cNvPr>
          <p:cNvSpPr txBox="1"/>
          <p:nvPr/>
        </p:nvSpPr>
        <p:spPr>
          <a:xfrm>
            <a:off x="90999" y="1230039"/>
            <a:ext cx="448326" cy="307392"/>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1.3</a:t>
            </a:r>
          </a:p>
        </p:txBody>
      </p:sp>
      <p:sp>
        <p:nvSpPr>
          <p:cNvPr id="12" name="TextBox 11">
            <a:extLst>
              <a:ext uri="{FF2B5EF4-FFF2-40B4-BE49-F238E27FC236}">
                <a16:creationId xmlns:a16="http://schemas.microsoft.com/office/drawing/2014/main" id="{D1852245-7931-3CE3-2769-6429F815E0D1}"/>
              </a:ext>
            </a:extLst>
          </p:cNvPr>
          <p:cNvSpPr txBox="1"/>
          <p:nvPr/>
        </p:nvSpPr>
        <p:spPr>
          <a:xfrm>
            <a:off x="539325" y="1230039"/>
            <a:ext cx="6729866" cy="3108543"/>
          </a:xfrm>
          <a:prstGeom prst="rect">
            <a:avLst/>
          </a:prstGeom>
          <a:noFill/>
        </p:spPr>
        <p:txBody>
          <a:bodyPr wrap="square">
            <a:spAutoFit/>
          </a:bodyPr>
          <a:lstStyle/>
          <a:p>
            <a:pPr>
              <a:buNone/>
            </a:pPr>
            <a:r>
              <a:rPr lang="en-GB" sz="1400" dirty="0">
                <a:latin typeface="Times New Roman" panose="02020603050405020304" pitchFamily="18" charset="0"/>
                <a:cs typeface="Times New Roman" panose="02020603050405020304" pitchFamily="18" charset="0"/>
              </a:rPr>
              <a:t>Property 1 (10 Bondgate) is the best comparison available. It's the closest in size to 2 Bondgate (which is 368 </a:t>
            </a:r>
            <a:r>
              <a:rPr lang="en-GB" sz="1400" dirty="0" err="1">
                <a:latin typeface="Times New Roman" panose="02020603050405020304" pitchFamily="18" charset="0"/>
                <a:cs typeface="Times New Roman" panose="02020603050405020304" pitchFamily="18" charset="0"/>
              </a:rPr>
              <a:t>sq</a:t>
            </a:r>
            <a:r>
              <a:rPr lang="en-GB" sz="1400" dirty="0">
                <a:latin typeface="Times New Roman" panose="02020603050405020304" pitchFamily="18" charset="0"/>
                <a:cs typeface="Times New Roman" panose="02020603050405020304" pitchFamily="18" charset="0"/>
              </a:rPr>
              <a:t> ft) and sits on the same street.</a:t>
            </a:r>
          </a:p>
          <a:p>
            <a:pPr>
              <a:buNone/>
            </a:pPr>
            <a:endParaRPr lang="en-GB" sz="1400" dirty="0">
              <a:latin typeface="Times New Roman" panose="02020603050405020304" pitchFamily="18" charset="0"/>
              <a:cs typeface="Times New Roman" panose="02020603050405020304" pitchFamily="18" charset="0"/>
            </a:endParaRPr>
          </a:p>
          <a:p>
            <a:pPr>
              <a:buNone/>
            </a:pPr>
            <a:r>
              <a:rPr lang="en-GB" sz="1400" dirty="0">
                <a:latin typeface="Times New Roman" panose="02020603050405020304" pitchFamily="18" charset="0"/>
                <a:cs typeface="Times New Roman" panose="02020603050405020304" pitchFamily="18" charset="0"/>
              </a:rPr>
              <a:t>However, the two properties aren't identical. While 2 Bondgate is smaller and will cost less overall, smaller homes typically sell for more per square foot than larger ones. This is because buyers pay a premium for entry-level homes in popular areas. Generally, smaller homes cost 10% to 30% more per square foot than larger homes of similar quality in the same location.</a:t>
            </a:r>
          </a:p>
          <a:p>
            <a:pPr>
              <a:buNone/>
            </a:pPr>
            <a:endParaRPr lang="en-GB" sz="1400" dirty="0">
              <a:latin typeface="Times New Roman" panose="02020603050405020304" pitchFamily="18" charset="0"/>
              <a:cs typeface="Times New Roman" panose="02020603050405020304" pitchFamily="18" charset="0"/>
            </a:endParaRPr>
          </a:p>
          <a:p>
            <a:pPr>
              <a:buNone/>
            </a:pPr>
            <a:r>
              <a:rPr lang="en-GB" sz="1400" dirty="0">
                <a:latin typeface="Times New Roman" panose="02020603050405020304" pitchFamily="18" charset="0"/>
                <a:cs typeface="Times New Roman" panose="02020603050405020304" pitchFamily="18" charset="0"/>
              </a:rPr>
              <a:t>Based on this, a fair price for 2 Bondgate would be around </a:t>
            </a:r>
            <a:r>
              <a:rPr lang="en-GB" sz="1400" b="1" dirty="0">
                <a:latin typeface="Times New Roman" panose="02020603050405020304" pitchFamily="18" charset="0"/>
                <a:cs typeface="Times New Roman" panose="02020603050405020304" pitchFamily="18" charset="0"/>
              </a:rPr>
              <a:t>£199,952</a:t>
            </a:r>
            <a:r>
              <a:rPr lang="en-GB" sz="1400" dirty="0">
                <a:latin typeface="Times New Roman" panose="02020603050405020304" pitchFamily="18" charset="0"/>
                <a:cs typeface="Times New Roman" panose="02020603050405020304" pitchFamily="18" charset="0"/>
              </a:rPr>
              <a:t>.</a:t>
            </a:r>
          </a:p>
          <a:p>
            <a:pPr>
              <a:buNone/>
            </a:pPr>
            <a:endParaRPr lang="en-GB" sz="1400" dirty="0">
              <a:latin typeface="Times New Roman" panose="02020603050405020304" pitchFamily="18" charset="0"/>
              <a:cs typeface="Times New Roman" panose="02020603050405020304" pitchFamily="18" charset="0"/>
            </a:endParaRPr>
          </a:p>
          <a:p>
            <a:pPr>
              <a:buNone/>
            </a:pPr>
            <a:r>
              <a:rPr lang="en-GB" sz="1400" dirty="0">
                <a:latin typeface="Times New Roman" panose="02020603050405020304" pitchFamily="18" charset="0"/>
                <a:cs typeface="Times New Roman" panose="02020603050405020304" pitchFamily="18" charset="0"/>
              </a:rPr>
              <a:t>This is well below the current asking price of </a:t>
            </a:r>
            <a:r>
              <a:rPr lang="en-GB" sz="1400" b="1" dirty="0">
                <a:latin typeface="Times New Roman" panose="02020603050405020304" pitchFamily="18" charset="0"/>
                <a:cs typeface="Times New Roman" panose="02020603050405020304" pitchFamily="18" charset="0"/>
              </a:rPr>
              <a:t>£240,000</a:t>
            </a:r>
            <a:r>
              <a:rPr lang="en-GB" sz="1400" dirty="0">
                <a:latin typeface="Times New Roman" panose="02020603050405020304" pitchFamily="18" charset="0"/>
                <a:cs typeface="Times New Roman" panose="02020603050405020304" pitchFamily="18" charset="0"/>
              </a:rPr>
              <a:t>. However, homes like 2 Bondgate are rare in this area, which means buyers will likely pay over the odds to secure one. With this in mind, an offer of </a:t>
            </a:r>
            <a:r>
              <a:rPr lang="en-GB" sz="1400" b="1" dirty="0">
                <a:latin typeface="Times New Roman" panose="02020603050405020304" pitchFamily="18" charset="0"/>
                <a:cs typeface="Times New Roman" panose="02020603050405020304" pitchFamily="18" charset="0"/>
              </a:rPr>
              <a:t>£210,000</a:t>
            </a:r>
            <a:r>
              <a:rPr lang="en-GB" sz="1400" dirty="0">
                <a:latin typeface="Times New Roman" panose="02020603050405020304" pitchFamily="18" charset="0"/>
                <a:cs typeface="Times New Roman" panose="02020603050405020304" pitchFamily="18" charset="0"/>
              </a:rPr>
              <a:t> would be reasonable.</a:t>
            </a:r>
          </a:p>
        </p:txBody>
      </p:sp>
      <p:sp>
        <p:nvSpPr>
          <p:cNvPr id="16" name="TextBox 15">
            <a:extLst>
              <a:ext uri="{FF2B5EF4-FFF2-40B4-BE49-F238E27FC236}">
                <a16:creationId xmlns:a16="http://schemas.microsoft.com/office/drawing/2014/main" id="{CB829DA2-5B88-C3A4-E6E5-8823485BF5D9}"/>
              </a:ext>
            </a:extLst>
          </p:cNvPr>
          <p:cNvSpPr txBox="1"/>
          <p:nvPr/>
        </p:nvSpPr>
        <p:spPr>
          <a:xfrm>
            <a:off x="243841" y="4765854"/>
            <a:ext cx="7025062" cy="307392"/>
          </a:xfrm>
          <a:prstGeom prst="rect">
            <a:avLst/>
          </a:prstGeom>
          <a:noFill/>
        </p:spPr>
        <p:txBody>
          <a:bodyPr wrap="square">
            <a:spAutoFit/>
          </a:bodyPr>
          <a:lstStyle/>
          <a:p>
            <a:pPr algn="ctr">
              <a:lnSpc>
                <a:spcPct val="107000"/>
              </a:lnSpc>
              <a:spcAft>
                <a:spcPts val="800"/>
              </a:spcAft>
            </a:pPr>
            <a:r>
              <a:rPr lang="en-GB" sz="1400" b="1" kern="100" dirty="0">
                <a:solidFill>
                  <a:schemeClr val="bg1">
                    <a:lumMod val="85000"/>
                  </a:schemeClr>
                </a:solidFill>
                <a:latin typeface="Times New Roman" panose="02020603050405020304" pitchFamily="18" charset="0"/>
                <a:ea typeface="Calibri" panose="020F0502020204030204" pitchFamily="34" charset="0"/>
                <a:cs typeface="Times New Roman" panose="02020603050405020304" pitchFamily="18" charset="0"/>
              </a:rPr>
              <a:t>T U R N   T O   N E X T   P A G E</a:t>
            </a:r>
          </a:p>
        </p:txBody>
      </p:sp>
      <p:cxnSp>
        <p:nvCxnSpPr>
          <p:cNvPr id="18" name="Straight Connector 17">
            <a:extLst>
              <a:ext uri="{FF2B5EF4-FFF2-40B4-BE49-F238E27FC236}">
                <a16:creationId xmlns:a16="http://schemas.microsoft.com/office/drawing/2014/main" id="{D0522F31-5A25-1180-D4BA-BBB99AC8BEEE}"/>
              </a:ext>
            </a:extLst>
          </p:cNvPr>
          <p:cNvCxnSpPr/>
          <p:nvPr/>
        </p:nvCxnSpPr>
        <p:spPr>
          <a:xfrm>
            <a:off x="243841" y="4659347"/>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4926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D943-DA5C-8014-4290-1601E04D68E9}"/>
            </a:ext>
          </a:extLst>
        </p:cNvPr>
        <p:cNvGrpSpPr/>
        <p:nvPr/>
      </p:nvGrpSpPr>
      <p:grpSpPr>
        <a:xfrm>
          <a:off x="0" y="0"/>
          <a:ext cx="0" cy="0"/>
          <a:chOff x="0" y="0"/>
          <a:chExt cx="0" cy="0"/>
        </a:xfrm>
      </p:grpSpPr>
      <p:pic>
        <p:nvPicPr>
          <p:cNvPr id="25" name="Picture 24" descr="A map of a town&#10;&#10;AI-generated content may be incorrect.">
            <a:extLst>
              <a:ext uri="{FF2B5EF4-FFF2-40B4-BE49-F238E27FC236}">
                <a16:creationId xmlns:a16="http://schemas.microsoft.com/office/drawing/2014/main" id="{FAD34E4D-D043-072D-3C22-0BE1D5E67ED1}"/>
              </a:ext>
            </a:extLst>
          </p:cNvPr>
          <p:cNvPicPr>
            <a:picLocks noChangeAspect="1"/>
          </p:cNvPicPr>
          <p:nvPr/>
        </p:nvPicPr>
        <p:blipFill>
          <a:blip r:embed="rId2"/>
          <a:srcRect t="349" b="16183"/>
          <a:stretch>
            <a:fillRect/>
          </a:stretch>
        </p:blipFill>
        <p:spPr>
          <a:xfrm>
            <a:off x="408462" y="4784919"/>
            <a:ext cx="6742749" cy="5363777"/>
          </a:xfrm>
          <a:prstGeom prst="rect">
            <a:avLst/>
          </a:prstGeom>
        </p:spPr>
      </p:pic>
      <p:sp>
        <p:nvSpPr>
          <p:cNvPr id="9" name="Oval 8">
            <a:extLst>
              <a:ext uri="{FF2B5EF4-FFF2-40B4-BE49-F238E27FC236}">
                <a16:creationId xmlns:a16="http://schemas.microsoft.com/office/drawing/2014/main" id="{BECEE86A-9FCA-E9FB-DEAF-C4B10A8BD161}"/>
              </a:ext>
            </a:extLst>
          </p:cNvPr>
          <p:cNvSpPr/>
          <p:nvPr/>
        </p:nvSpPr>
        <p:spPr>
          <a:xfrm>
            <a:off x="2836948" y="7265210"/>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659EA80B-534E-38E2-5CA0-67DE4A81A994}"/>
              </a:ext>
            </a:extLst>
          </p:cNvPr>
          <p:cNvPicPr>
            <a:picLocks noChangeAspect="1"/>
          </p:cNvPicPr>
          <p:nvPr/>
        </p:nvPicPr>
        <p:blipFill>
          <a:blip r:embed="rId3"/>
          <a:stretch>
            <a:fillRect/>
          </a:stretch>
        </p:blipFill>
        <p:spPr>
          <a:xfrm>
            <a:off x="4628391" y="180000"/>
            <a:ext cx="2751284" cy="912242"/>
          </a:xfrm>
          <a:prstGeom prst="rect">
            <a:avLst/>
          </a:prstGeom>
        </p:spPr>
      </p:pic>
      <p:cxnSp>
        <p:nvCxnSpPr>
          <p:cNvPr id="6" name="Straight Connector 5">
            <a:extLst>
              <a:ext uri="{FF2B5EF4-FFF2-40B4-BE49-F238E27FC236}">
                <a16:creationId xmlns:a16="http://schemas.microsoft.com/office/drawing/2014/main" id="{96C9C45D-1F07-B8B2-1A12-1CDC54BDCD3E}"/>
              </a:ext>
            </a:extLst>
          </p:cNvPr>
          <p:cNvCxnSpPr/>
          <p:nvPr/>
        </p:nvCxnSpPr>
        <p:spPr>
          <a:xfrm>
            <a:off x="244129" y="1001798"/>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6AEC60F-7B73-EC8B-6CB2-61ECE4260A70}"/>
              </a:ext>
            </a:extLst>
          </p:cNvPr>
          <p:cNvSpPr txBox="1"/>
          <p:nvPr/>
        </p:nvSpPr>
        <p:spPr>
          <a:xfrm>
            <a:off x="699265" y="4524435"/>
            <a:ext cx="3479421" cy="215187"/>
          </a:xfrm>
          <a:prstGeom prst="rect">
            <a:avLst/>
          </a:prstGeom>
          <a:noFill/>
        </p:spPr>
        <p:txBody>
          <a:bodyPr wrap="square">
            <a:spAutoFit/>
          </a:bodyPr>
          <a:lstStyle/>
          <a:p>
            <a:pPr>
              <a:lnSpc>
                <a:spcPct val="107000"/>
              </a:lnSpc>
              <a:spcAft>
                <a:spcPts val="800"/>
              </a:spcAft>
            </a:pPr>
            <a:r>
              <a:rPr lang="en-GB" sz="800" b="1" kern="100" dirty="0">
                <a:latin typeface="Times New Roman" panose="02020603050405020304" pitchFamily="18" charset="0"/>
                <a:ea typeface="Calibri" panose="020F0502020204030204" pitchFamily="34" charset="0"/>
                <a:cs typeface="Times New Roman" panose="02020603050405020304" pitchFamily="18" charset="0"/>
              </a:rPr>
              <a:t>*No crimes were reported in August and December 2023.</a:t>
            </a:r>
          </a:p>
        </p:txBody>
      </p:sp>
      <p:graphicFrame>
        <p:nvGraphicFramePr>
          <p:cNvPr id="29" name="Table 28">
            <a:extLst>
              <a:ext uri="{FF2B5EF4-FFF2-40B4-BE49-F238E27FC236}">
                <a16:creationId xmlns:a16="http://schemas.microsoft.com/office/drawing/2014/main" id="{3ADB2C1B-7C75-43B5-1CD7-E8FD0611CBAB}"/>
              </a:ext>
            </a:extLst>
          </p:cNvPr>
          <p:cNvGraphicFramePr>
            <a:graphicFrameLocks noGrp="1"/>
          </p:cNvGraphicFramePr>
          <p:nvPr>
            <p:extLst>
              <p:ext uri="{D42A27DB-BD31-4B8C-83A1-F6EECF244321}">
                <p14:modId xmlns:p14="http://schemas.microsoft.com/office/powerpoint/2010/main" val="7064723"/>
              </p:ext>
            </p:extLst>
          </p:nvPr>
        </p:nvGraphicFramePr>
        <p:xfrm>
          <a:off x="699265" y="1682728"/>
          <a:ext cx="4053374" cy="2834640"/>
        </p:xfrm>
        <a:graphic>
          <a:graphicData uri="http://schemas.openxmlformats.org/drawingml/2006/table">
            <a:tbl>
              <a:tblPr firstRow="1" bandRow="1">
                <a:tableStyleId>{073A0DAA-6AF3-43AB-8588-CEC1D06C72B9}</a:tableStyleId>
              </a:tblPr>
              <a:tblGrid>
                <a:gridCol w="756000">
                  <a:extLst>
                    <a:ext uri="{9D8B030D-6E8A-4147-A177-3AD203B41FA5}">
                      <a16:colId xmlns:a16="http://schemas.microsoft.com/office/drawing/2014/main" val="4282054300"/>
                    </a:ext>
                  </a:extLst>
                </a:gridCol>
                <a:gridCol w="1728000">
                  <a:extLst>
                    <a:ext uri="{9D8B030D-6E8A-4147-A177-3AD203B41FA5}">
                      <a16:colId xmlns:a16="http://schemas.microsoft.com/office/drawing/2014/main" val="1363356351"/>
                    </a:ext>
                  </a:extLst>
                </a:gridCol>
                <a:gridCol w="713601">
                  <a:extLst>
                    <a:ext uri="{9D8B030D-6E8A-4147-A177-3AD203B41FA5}">
                      <a16:colId xmlns:a16="http://schemas.microsoft.com/office/drawing/2014/main" val="1526401077"/>
                    </a:ext>
                  </a:extLst>
                </a:gridCol>
                <a:gridCol w="855773">
                  <a:extLst>
                    <a:ext uri="{9D8B030D-6E8A-4147-A177-3AD203B41FA5}">
                      <a16:colId xmlns:a16="http://schemas.microsoft.com/office/drawing/2014/main" val="621077783"/>
                    </a:ext>
                  </a:extLst>
                </a:gridCol>
              </a:tblGrid>
              <a:tr h="422710">
                <a:tc>
                  <a:txBody>
                    <a:bodyPr/>
                    <a:lstStyle/>
                    <a:p>
                      <a:pPr algn="ctr"/>
                      <a:r>
                        <a:rPr lang="en-GB" sz="1100" dirty="0"/>
                        <a:t>Month</a:t>
                      </a:r>
                    </a:p>
                  </a:txBody>
                  <a:tcPr/>
                </a:tc>
                <a:tc>
                  <a:txBody>
                    <a:bodyPr/>
                    <a:lstStyle/>
                    <a:p>
                      <a:pPr algn="l"/>
                      <a:r>
                        <a:rPr lang="en-GB" sz="1100" dirty="0"/>
                        <a:t>Crime Category</a:t>
                      </a:r>
                    </a:p>
                  </a:txBody>
                  <a:tcPr/>
                </a:tc>
                <a:tc>
                  <a:txBody>
                    <a:bodyPr/>
                    <a:lstStyle/>
                    <a:p>
                      <a:pPr algn="ctr"/>
                      <a:r>
                        <a:rPr lang="en-GB" sz="1100" dirty="0"/>
                        <a:t>No. of Incidents</a:t>
                      </a:r>
                    </a:p>
                  </a:txBody>
                  <a:tcPr/>
                </a:tc>
                <a:tc>
                  <a:txBody>
                    <a:bodyPr/>
                    <a:lstStyle/>
                    <a:p>
                      <a:pPr algn="ctr"/>
                      <a:r>
                        <a:rPr lang="en-GB" sz="1100" dirty="0"/>
                        <a:t>Location</a:t>
                      </a:r>
                    </a:p>
                  </a:txBody>
                  <a:tcPr/>
                </a:tc>
                <a:extLst>
                  <a:ext uri="{0D108BD9-81ED-4DB2-BD59-A6C34878D82A}">
                    <a16:rowId xmlns:a16="http://schemas.microsoft.com/office/drawing/2014/main" val="131876023"/>
                  </a:ext>
                </a:extLst>
              </a:tr>
              <a:tr h="256645">
                <a:tc>
                  <a:txBody>
                    <a:bodyPr/>
                    <a:lstStyle/>
                    <a:p>
                      <a:pPr algn="l"/>
                      <a:r>
                        <a:rPr lang="en-GB" sz="1100" dirty="0"/>
                        <a:t>Jan 2024</a:t>
                      </a:r>
                    </a:p>
                  </a:txBody>
                  <a:tcPr>
                    <a:solidFill>
                      <a:srgbClr val="E7E7E7"/>
                    </a:solidFill>
                  </a:tcPr>
                </a:tc>
                <a:tc>
                  <a:txBody>
                    <a:bodyPr/>
                    <a:lstStyle/>
                    <a:p>
                      <a:r>
                        <a:rPr lang="en-GB" sz="1100" dirty="0"/>
                        <a:t>Public Order</a:t>
                      </a:r>
                    </a:p>
                  </a:txBody>
                  <a:tcPr>
                    <a:solidFill>
                      <a:srgbClr val="E7E7E7"/>
                    </a:solidFill>
                  </a:tcPr>
                </a:tc>
                <a:tc>
                  <a:txBody>
                    <a:bodyPr/>
                    <a:lstStyle/>
                    <a:p>
                      <a:pPr algn="ctr"/>
                      <a:r>
                        <a:rPr lang="en-GB" sz="1100" dirty="0"/>
                        <a:t>x1</a:t>
                      </a:r>
                    </a:p>
                  </a:txBody>
                  <a:tcPr>
                    <a:solidFill>
                      <a:srgbClr val="E7E7E7"/>
                    </a:solidFill>
                  </a:tcPr>
                </a:tc>
                <a:tc rowSpan="2">
                  <a:txBody>
                    <a:bodyPr/>
                    <a:lstStyle/>
                    <a:p>
                      <a:pPr algn="ctr"/>
                      <a:r>
                        <a:rPr lang="en-GB" sz="1100" b="1" dirty="0">
                          <a:solidFill>
                            <a:srgbClr val="9F0B2D"/>
                          </a:solidFill>
                        </a:rPr>
                        <a:t>1. </a:t>
                      </a:r>
                      <a:r>
                        <a:rPr lang="en-GB" sz="1100" dirty="0">
                          <a:solidFill>
                            <a:schemeClr val="tx1"/>
                          </a:solidFill>
                        </a:rPr>
                        <a:t>Outside Harewood Arms Hotel</a:t>
                      </a:r>
                    </a:p>
                  </a:txBody>
                  <a:tcPr>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4002190218"/>
                  </a:ext>
                </a:extLst>
              </a:tr>
              <a:tr h="332129">
                <a:tc>
                  <a:txBody>
                    <a:bodyPr/>
                    <a:lstStyle/>
                    <a:p>
                      <a:pPr algn="l"/>
                      <a:r>
                        <a:rPr lang="en-GB" sz="1100" dirty="0"/>
                        <a:t>Sep 2023</a:t>
                      </a:r>
                    </a:p>
                  </a:txBody>
                  <a:tcPr>
                    <a:lnB w="12700" cap="flat" cmpd="sng" algn="ctr">
                      <a:solidFill>
                        <a:schemeClr val="tx1"/>
                      </a:solidFill>
                      <a:prstDash val="solid"/>
                      <a:round/>
                      <a:headEnd type="none" w="med" len="med"/>
                      <a:tailEnd type="none" w="med" len="med"/>
                    </a:lnB>
                  </a:tcPr>
                </a:tc>
                <a:tc>
                  <a:txBody>
                    <a:bodyPr/>
                    <a:lstStyle/>
                    <a:p>
                      <a:r>
                        <a:rPr lang="en-GB" sz="1100" dirty="0"/>
                        <a:t>Violence &amp; sexual offenses</a:t>
                      </a:r>
                    </a:p>
                  </a:txBody>
                  <a:tcPr>
                    <a:lnB w="12700" cap="flat" cmpd="sng" algn="ctr">
                      <a:solidFill>
                        <a:schemeClr val="tx1"/>
                      </a:solidFill>
                      <a:prstDash val="solid"/>
                      <a:round/>
                      <a:headEnd type="none" w="med" len="med"/>
                      <a:tailEnd type="none" w="med" len="med"/>
                    </a:lnB>
                  </a:tcPr>
                </a:tc>
                <a:tc>
                  <a:txBody>
                    <a:bodyPr/>
                    <a:lstStyle/>
                    <a:p>
                      <a:pPr algn="ctr"/>
                      <a:r>
                        <a:rPr lang="en-GB" sz="1100" dirty="0"/>
                        <a:t>x1</a:t>
                      </a:r>
                    </a:p>
                  </a:txBody>
                  <a:tcPr>
                    <a:lnB w="12700" cap="flat" cmpd="sng" algn="ctr">
                      <a:solidFill>
                        <a:schemeClr val="tx1"/>
                      </a:solidFill>
                      <a:prstDash val="solid"/>
                      <a:round/>
                      <a:headEnd type="none" w="med" len="med"/>
                      <a:tailEnd type="none" w="med" len="med"/>
                    </a:lnB>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2691822"/>
                  </a:ext>
                </a:extLst>
              </a:tr>
              <a:tr h="256645">
                <a:tc>
                  <a:txBody>
                    <a:bodyPr/>
                    <a:lstStyle/>
                    <a:p>
                      <a:pPr algn="l"/>
                      <a:r>
                        <a:rPr lang="en-GB" sz="1100" dirty="0"/>
                        <a:t>Nov 2023</a:t>
                      </a:r>
                    </a:p>
                  </a:txBody>
                  <a:tcPr>
                    <a:lnT w="12700" cap="flat" cmpd="sng" algn="ctr">
                      <a:solidFill>
                        <a:schemeClr val="tx1"/>
                      </a:solidFill>
                      <a:prstDash val="solid"/>
                      <a:round/>
                      <a:headEnd type="none" w="med" len="med"/>
                      <a:tailEnd type="none" w="med" len="med"/>
                    </a:lnT>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lnT w="12700" cap="flat" cmpd="sng" algn="ctr">
                      <a:solidFill>
                        <a:schemeClr val="tx1"/>
                      </a:solidFill>
                      <a:prstDash val="solid"/>
                      <a:round/>
                      <a:headEnd type="none" w="med" len="med"/>
                      <a:tailEnd type="none" w="med" len="med"/>
                    </a:lnT>
                    <a:solidFill>
                      <a:srgbClr val="E7E7E7"/>
                    </a:solidFill>
                  </a:tcPr>
                </a:tc>
                <a:tc>
                  <a:txBody>
                    <a:bodyPr/>
                    <a:lstStyle/>
                    <a:p>
                      <a:pPr algn="ctr"/>
                      <a:r>
                        <a:rPr lang="en-GB" sz="1100" dirty="0"/>
                        <a:t>x2</a:t>
                      </a:r>
                    </a:p>
                  </a:txBody>
                  <a:tcPr>
                    <a:lnT w="12700" cap="flat" cmpd="sng" algn="ctr">
                      <a:solidFill>
                        <a:schemeClr val="tx1"/>
                      </a:solidFill>
                      <a:prstDash val="solid"/>
                      <a:round/>
                      <a:headEnd type="none" w="med" len="med"/>
                      <a:tailEnd type="none" w="med" len="med"/>
                    </a:lnT>
                    <a:solidFill>
                      <a:srgbClr val="E7E7E7"/>
                    </a:solidFill>
                  </a:tcPr>
                </a:tc>
                <a:tc rowSpan="3">
                  <a:txBody>
                    <a:bodyPr/>
                    <a:lstStyle/>
                    <a:p>
                      <a:pPr algn="ctr"/>
                      <a:r>
                        <a:rPr lang="en-GB" sz="1100" b="1" dirty="0">
                          <a:solidFill>
                            <a:srgbClr val="9F0B2D"/>
                          </a:solidFill>
                        </a:rPr>
                        <a:t>2. </a:t>
                      </a:r>
                      <a:r>
                        <a:rPr lang="en-GB" sz="1100" dirty="0">
                          <a:solidFill>
                            <a:schemeClr val="tx1"/>
                          </a:solidFill>
                        </a:rPr>
                        <a:t>Near Gateways school</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3783340004"/>
                  </a:ext>
                </a:extLst>
              </a:tr>
              <a:tr h="256645">
                <a:tc rowSpan="2">
                  <a:txBody>
                    <a:bodyPr/>
                    <a:lstStyle/>
                    <a:p>
                      <a:pPr algn="l"/>
                      <a:r>
                        <a:rPr lang="en-GB" sz="1100" dirty="0"/>
                        <a:t>Oct 2023</a:t>
                      </a:r>
                    </a:p>
                  </a:txBody>
                  <a:tcPr>
                    <a:lnB w="12700" cap="flat" cmpd="sng" algn="ctr">
                      <a:solidFill>
                        <a:schemeClr val="tx1"/>
                      </a:solidFill>
                      <a:prstDash val="solid"/>
                      <a:round/>
                      <a:headEnd type="none" w="med" len="med"/>
                      <a:tailEnd type="none" w="med" len="med"/>
                    </a:lnB>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solidFill>
                      <a:srgbClr val="E7E7E7"/>
                    </a:solidFill>
                  </a:tcPr>
                </a:tc>
                <a:tc>
                  <a:txBody>
                    <a:bodyPr/>
                    <a:lstStyle/>
                    <a:p>
                      <a:pPr algn="ctr"/>
                      <a:r>
                        <a:rPr lang="en-GB" sz="1100" dirty="0"/>
                        <a:t>x1</a:t>
                      </a:r>
                    </a:p>
                  </a:txBody>
                  <a:tcPr>
                    <a:solidFill>
                      <a:srgbClr val="E7E7E7"/>
                    </a:solidFill>
                  </a:tcPr>
                </a:tc>
                <a:tc vMerge="1">
                  <a:txBody>
                    <a:bodyPr/>
                    <a:lstStyle/>
                    <a:p>
                      <a:pPr algn="ctr"/>
                      <a:endParaRPr lang="en-GB" sz="1100" dirty="0"/>
                    </a:p>
                  </a:txBody>
                  <a:tcPr>
                    <a:solidFill>
                      <a:schemeClr val="bg2">
                        <a:lumMod val="90000"/>
                      </a:schemeClr>
                    </a:solidFill>
                  </a:tcPr>
                </a:tc>
                <a:extLst>
                  <a:ext uri="{0D108BD9-81ED-4DB2-BD59-A6C34878D82A}">
                    <a16:rowId xmlns:a16="http://schemas.microsoft.com/office/drawing/2014/main" val="3426715482"/>
                  </a:ext>
                </a:extLst>
              </a:tr>
              <a:tr h="256645">
                <a:tc vMerge="1">
                  <a:txBody>
                    <a:bodyPr/>
                    <a:lstStyle/>
                    <a:p>
                      <a:endParaRPr lang="en-GB"/>
                    </a:p>
                  </a:txBody>
                  <a:tcPr/>
                </a:tc>
                <a:tc>
                  <a:txBody>
                    <a:bodyPr/>
                    <a:lstStyle/>
                    <a:p>
                      <a:r>
                        <a:rPr lang="en-GB" sz="1100" dirty="0"/>
                        <a:t>Criminal damage &amp; arson</a:t>
                      </a:r>
                    </a:p>
                  </a:txBody>
                  <a:tcPr>
                    <a:lnB w="12700" cap="flat" cmpd="sng" algn="ctr">
                      <a:solidFill>
                        <a:schemeClr val="tx1"/>
                      </a:solidFill>
                      <a:prstDash val="solid"/>
                      <a:round/>
                      <a:headEnd type="none" w="med" len="med"/>
                      <a:tailEnd type="none" w="med" len="med"/>
                    </a:lnB>
                    <a:solidFill>
                      <a:srgbClr val="E7E7E7"/>
                    </a:solidFill>
                  </a:tcPr>
                </a:tc>
                <a:tc>
                  <a:txBody>
                    <a:bodyPr/>
                    <a:lstStyle/>
                    <a:p>
                      <a:pPr algn="ctr"/>
                      <a:r>
                        <a:rPr lang="en-GB" sz="1100" dirty="0"/>
                        <a:t>x1</a:t>
                      </a:r>
                    </a:p>
                  </a:txBody>
                  <a:tcPr>
                    <a:lnB w="12700" cap="flat" cmpd="sng" algn="ctr">
                      <a:solidFill>
                        <a:schemeClr val="tx1"/>
                      </a:solidFill>
                      <a:prstDash val="solid"/>
                      <a:round/>
                      <a:headEnd type="none" w="med" len="med"/>
                      <a:tailEnd type="none" w="med" len="med"/>
                    </a:lnB>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54422074"/>
                  </a:ext>
                </a:extLst>
              </a:tr>
              <a:tr h="256645">
                <a:tc rowSpan="3">
                  <a:txBody>
                    <a:bodyPr/>
                    <a:lstStyle/>
                    <a:p>
                      <a:pPr algn="l"/>
                      <a:r>
                        <a:rPr lang="en-GB" sz="1100" dirty="0"/>
                        <a:t>Nov 2023</a:t>
                      </a:r>
                    </a:p>
                  </a:txBody>
                  <a:tcPr>
                    <a:lnT w="12700" cap="flat" cmpd="sng" algn="ctr">
                      <a:solidFill>
                        <a:schemeClr val="tx1"/>
                      </a:solidFill>
                      <a:prstDash val="solid"/>
                      <a:round/>
                      <a:headEnd type="none" w="med" len="med"/>
                      <a:tailEnd type="none" w="med" len="med"/>
                    </a:lnT>
                  </a:tcPr>
                </a:tc>
                <a:tc>
                  <a:txBody>
                    <a:bodyPr/>
                    <a:lstStyle/>
                    <a:p>
                      <a:r>
                        <a:rPr lang="en-GB" sz="1100" dirty="0"/>
                        <a:t>Antisocial behaviour</a:t>
                      </a:r>
                    </a:p>
                  </a:txBody>
                  <a:tcPr>
                    <a:lnT w="12700" cap="flat" cmpd="sng" algn="ctr">
                      <a:solidFill>
                        <a:schemeClr val="tx1"/>
                      </a:solidFill>
                      <a:prstDash val="solid"/>
                      <a:round/>
                      <a:headEnd type="none" w="med" len="med"/>
                      <a:tailEnd type="none" w="med" len="med"/>
                    </a:lnT>
                  </a:tcPr>
                </a:tc>
                <a:tc>
                  <a:txBody>
                    <a:bodyPr/>
                    <a:lstStyle/>
                    <a:p>
                      <a:pPr algn="ctr"/>
                      <a:r>
                        <a:rPr lang="en-GB" sz="1100" dirty="0"/>
                        <a:t>x1</a:t>
                      </a:r>
                    </a:p>
                  </a:txBody>
                  <a:tcPr>
                    <a:lnT w="12700" cap="flat" cmpd="sng" algn="ctr">
                      <a:solidFill>
                        <a:schemeClr val="tx1"/>
                      </a:solidFill>
                      <a:prstDash val="solid"/>
                      <a:round/>
                      <a:headEnd type="none" w="med" len="med"/>
                      <a:tailEnd type="none" w="med" len="med"/>
                    </a:lnT>
                  </a:tcPr>
                </a:tc>
                <a:tc rowSpan="4">
                  <a:txBody>
                    <a:bodyPr/>
                    <a:lstStyle/>
                    <a:p>
                      <a:pPr algn="ctr"/>
                      <a:r>
                        <a:rPr lang="en-GB" sz="1100" b="1" dirty="0">
                          <a:solidFill>
                            <a:srgbClr val="9F0B2D"/>
                          </a:solidFill>
                        </a:rPr>
                        <a:t>3. </a:t>
                      </a:r>
                      <a:r>
                        <a:rPr lang="en-GB" sz="1100" dirty="0">
                          <a:solidFill>
                            <a:schemeClr val="tx1"/>
                          </a:solidFill>
                        </a:rPr>
                        <a:t>In front of rented property 8 Harewood Mews</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49834781"/>
                  </a:ext>
                </a:extLst>
              </a:tr>
              <a:tr h="256645">
                <a:tc vMerge="1">
                  <a:txBody>
                    <a:bodyPr/>
                    <a:lstStyle/>
                    <a:p>
                      <a:endParaRPr lang="en-GB"/>
                    </a:p>
                  </a:txBody>
                  <a:tcPr/>
                </a:tc>
                <a:tc>
                  <a:txBody>
                    <a:bodyPr/>
                    <a:lstStyle/>
                    <a:p>
                      <a:r>
                        <a:rPr lang="en-GB" sz="1100" dirty="0"/>
                        <a:t>Theft</a:t>
                      </a:r>
                    </a:p>
                  </a:txBody>
                  <a:tcPr>
                    <a:solidFill>
                      <a:srgbClr val="E7E7E7"/>
                    </a:solidFill>
                  </a:tcPr>
                </a:tc>
                <a:tc>
                  <a:txBody>
                    <a:bodyPr/>
                    <a:lstStyle/>
                    <a:p>
                      <a:pPr algn="ctr"/>
                      <a:r>
                        <a:rPr lang="en-GB" sz="1100" dirty="0"/>
                        <a:t>x1</a:t>
                      </a:r>
                    </a:p>
                  </a:txBody>
                  <a:tcPr>
                    <a:solidFill>
                      <a:srgbClr val="E7E7E7"/>
                    </a:solidFill>
                  </a:tcPr>
                </a:tc>
                <a:tc vMerge="1">
                  <a:txBody>
                    <a:bodyPr/>
                    <a:lstStyle/>
                    <a:p>
                      <a:pPr algn="ctr"/>
                      <a:endParaRPr lang="en-GB" sz="1100" dirty="0"/>
                    </a:p>
                  </a:txBody>
                  <a:tcPr>
                    <a:solidFill>
                      <a:schemeClr val="bg2"/>
                    </a:solidFill>
                  </a:tcPr>
                </a:tc>
                <a:extLst>
                  <a:ext uri="{0D108BD9-81ED-4DB2-BD59-A6C34878D82A}">
                    <a16:rowId xmlns:a16="http://schemas.microsoft.com/office/drawing/2014/main" val="452138082"/>
                  </a:ext>
                </a:extLst>
              </a:tr>
              <a:tr h="256645">
                <a:tc vMerge="1">
                  <a:txBody>
                    <a:bodyPr/>
                    <a:lstStyle/>
                    <a:p>
                      <a:endParaRPr lang="en-GB"/>
                    </a:p>
                  </a:txBody>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Criminal damage &amp; arson</a:t>
                      </a:r>
                    </a:p>
                  </a:txBody>
                  <a:tcPr/>
                </a:tc>
                <a:tc>
                  <a:txBody>
                    <a:bodyPr/>
                    <a:lstStyle/>
                    <a:p>
                      <a:pPr algn="ctr"/>
                      <a:r>
                        <a:rPr lang="en-GB" sz="1100" dirty="0"/>
                        <a:t>x1</a:t>
                      </a:r>
                    </a:p>
                  </a:txBody>
                  <a:tcPr/>
                </a:tc>
                <a:tc vMerge="1">
                  <a:txBody>
                    <a:bodyPr/>
                    <a:lstStyle/>
                    <a:p>
                      <a:pPr algn="ctr"/>
                      <a:endParaRPr lang="en-GB" sz="1100" dirty="0"/>
                    </a:p>
                  </a:txBody>
                  <a:tcPr/>
                </a:tc>
                <a:extLst>
                  <a:ext uri="{0D108BD9-81ED-4DB2-BD59-A6C34878D82A}">
                    <a16:rowId xmlns:a16="http://schemas.microsoft.com/office/drawing/2014/main" val="2792417108"/>
                  </a:ext>
                </a:extLst>
              </a:tr>
              <a:tr h="167544">
                <a:tc>
                  <a:txBody>
                    <a:bodyPr/>
                    <a:lstStyle/>
                    <a:p>
                      <a:pPr algn="l"/>
                      <a:r>
                        <a:rPr lang="en-GB" sz="1100" dirty="0"/>
                        <a:t>Oct 2023</a:t>
                      </a:r>
                    </a:p>
                  </a:txBody>
                  <a:tcPr>
                    <a:solidFill>
                      <a:srgbClr val="E7E7E7"/>
                    </a:solidFill>
                  </a:tcPr>
                </a:tc>
                <a:tc>
                  <a:txBody>
                    <a:bodyPr/>
                    <a:lstStyle/>
                    <a:p>
                      <a:r>
                        <a:rPr lang="en-GB" sz="1100" dirty="0"/>
                        <a:t>Theft</a:t>
                      </a:r>
                    </a:p>
                  </a:txBody>
                  <a:tcPr>
                    <a:solidFill>
                      <a:srgbClr val="E7E7E7"/>
                    </a:solidFill>
                  </a:tcPr>
                </a:tc>
                <a:tc>
                  <a:txBody>
                    <a:bodyPr/>
                    <a:lstStyle/>
                    <a:p>
                      <a:pPr algn="ctr"/>
                      <a:r>
                        <a:rPr lang="en-GB" sz="1100" dirty="0"/>
                        <a:t>x1</a:t>
                      </a:r>
                    </a:p>
                  </a:txBody>
                  <a:tcPr>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978402"/>
                  </a:ext>
                </a:extLst>
              </a:tr>
            </a:tbl>
          </a:graphicData>
        </a:graphic>
      </p:graphicFrame>
      <p:sp>
        <p:nvSpPr>
          <p:cNvPr id="4" name="TextBox 3">
            <a:extLst>
              <a:ext uri="{FF2B5EF4-FFF2-40B4-BE49-F238E27FC236}">
                <a16:creationId xmlns:a16="http://schemas.microsoft.com/office/drawing/2014/main" id="{16CB2EFF-2860-2FF2-52D5-962588AF0010}"/>
              </a:ext>
            </a:extLst>
          </p:cNvPr>
          <p:cNvSpPr txBox="1"/>
          <p:nvPr/>
        </p:nvSpPr>
        <p:spPr>
          <a:xfrm>
            <a:off x="244129" y="1165782"/>
            <a:ext cx="5535741" cy="307392"/>
          </a:xfrm>
          <a:prstGeom prst="rect">
            <a:avLst/>
          </a:prstGeom>
          <a:noFill/>
        </p:spPr>
        <p:txBody>
          <a:bodyPr wrap="square">
            <a:spAutoFit/>
          </a:bodyPr>
          <a:lstStyle/>
          <a:p>
            <a:pPr>
              <a:lnSpc>
                <a:spcPct val="107000"/>
              </a:lnSpc>
              <a:spcAft>
                <a:spcPts val="800"/>
              </a:spcAft>
            </a:pP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LOCAL CRIME LEVELS</a:t>
            </a:r>
          </a:p>
        </p:txBody>
      </p:sp>
      <p:sp>
        <p:nvSpPr>
          <p:cNvPr id="20" name="TextBox 19">
            <a:extLst>
              <a:ext uri="{FF2B5EF4-FFF2-40B4-BE49-F238E27FC236}">
                <a16:creationId xmlns:a16="http://schemas.microsoft.com/office/drawing/2014/main" id="{F61A111A-DE9A-62FF-00D2-DE0FEFE9AD47}"/>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24" name="Slide Number Placeholder 5">
            <a:extLst>
              <a:ext uri="{FF2B5EF4-FFF2-40B4-BE49-F238E27FC236}">
                <a16:creationId xmlns:a16="http://schemas.microsoft.com/office/drawing/2014/main" id="{4529D84D-271B-ADEE-D139-14E55C83E770}"/>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5</a:t>
            </a:fld>
            <a:endParaRPr lang="en-GB" sz="1100" dirty="0"/>
          </a:p>
        </p:txBody>
      </p:sp>
      <p:sp>
        <p:nvSpPr>
          <p:cNvPr id="34" name="TextBox 33">
            <a:extLst>
              <a:ext uri="{FF2B5EF4-FFF2-40B4-BE49-F238E27FC236}">
                <a16:creationId xmlns:a16="http://schemas.microsoft.com/office/drawing/2014/main" id="{46FFFBDA-74A4-445F-C13B-1E52038E45B9}"/>
              </a:ext>
            </a:extLst>
          </p:cNvPr>
          <p:cNvSpPr txBox="1"/>
          <p:nvPr/>
        </p:nvSpPr>
        <p:spPr>
          <a:xfrm>
            <a:off x="243840" y="1669901"/>
            <a:ext cx="448326" cy="307392"/>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2.1</a:t>
            </a:r>
          </a:p>
        </p:txBody>
      </p:sp>
      <p:sp>
        <p:nvSpPr>
          <p:cNvPr id="2" name="TextBox 1">
            <a:extLst>
              <a:ext uri="{FF2B5EF4-FFF2-40B4-BE49-F238E27FC236}">
                <a16:creationId xmlns:a16="http://schemas.microsoft.com/office/drawing/2014/main" id="{41FEEA5F-7DA1-A780-FCFC-2D956EC0858B}"/>
              </a:ext>
            </a:extLst>
          </p:cNvPr>
          <p:cNvSpPr txBox="1"/>
          <p:nvPr/>
        </p:nvSpPr>
        <p:spPr>
          <a:xfrm>
            <a:off x="2818654" y="7249414"/>
            <a:ext cx="186267" cy="215444"/>
          </a:xfrm>
          <a:prstGeom prst="rect">
            <a:avLst/>
          </a:prstGeom>
          <a:noFill/>
        </p:spPr>
        <p:txBody>
          <a:bodyPr wrap="square" rtlCol="0">
            <a:spAutoFit/>
          </a:bodyPr>
          <a:lstStyle/>
          <a:p>
            <a:r>
              <a:rPr lang="en-GB" sz="800" b="1" dirty="0">
                <a:solidFill>
                  <a:schemeClr val="bg1"/>
                </a:solidFill>
              </a:rPr>
              <a:t>3</a:t>
            </a:r>
          </a:p>
        </p:txBody>
      </p:sp>
      <p:sp>
        <p:nvSpPr>
          <p:cNvPr id="15" name="Oval 14">
            <a:extLst>
              <a:ext uri="{FF2B5EF4-FFF2-40B4-BE49-F238E27FC236}">
                <a16:creationId xmlns:a16="http://schemas.microsoft.com/office/drawing/2014/main" id="{A5F25554-BD55-3403-45DC-0446CB773305}"/>
              </a:ext>
            </a:extLst>
          </p:cNvPr>
          <p:cNvSpPr/>
          <p:nvPr/>
        </p:nvSpPr>
        <p:spPr>
          <a:xfrm>
            <a:off x="3937388" y="7370666"/>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ED1AA7B7-63A8-14E1-6995-871D640F2C0F}"/>
              </a:ext>
            </a:extLst>
          </p:cNvPr>
          <p:cNvSpPr txBox="1"/>
          <p:nvPr/>
        </p:nvSpPr>
        <p:spPr>
          <a:xfrm>
            <a:off x="3914527" y="7342389"/>
            <a:ext cx="186267" cy="215444"/>
          </a:xfrm>
          <a:prstGeom prst="rect">
            <a:avLst/>
          </a:prstGeom>
          <a:noFill/>
        </p:spPr>
        <p:txBody>
          <a:bodyPr wrap="square" rtlCol="0">
            <a:spAutoFit/>
          </a:bodyPr>
          <a:lstStyle/>
          <a:p>
            <a:r>
              <a:rPr lang="en-GB" sz="800" b="1" dirty="0">
                <a:solidFill>
                  <a:schemeClr val="bg1"/>
                </a:solidFill>
              </a:rPr>
              <a:t>1</a:t>
            </a:r>
          </a:p>
        </p:txBody>
      </p:sp>
      <p:sp>
        <p:nvSpPr>
          <p:cNvPr id="19" name="Oval 18">
            <a:extLst>
              <a:ext uri="{FF2B5EF4-FFF2-40B4-BE49-F238E27FC236}">
                <a16:creationId xmlns:a16="http://schemas.microsoft.com/office/drawing/2014/main" id="{2989BA7B-2333-98C6-62D1-C985D03CD0F3}"/>
              </a:ext>
            </a:extLst>
          </p:cNvPr>
          <p:cNvSpPr/>
          <p:nvPr/>
        </p:nvSpPr>
        <p:spPr>
          <a:xfrm>
            <a:off x="4007660" y="8810724"/>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EAA64904-39BF-6D10-FF5F-474F15DB52EE}"/>
              </a:ext>
            </a:extLst>
          </p:cNvPr>
          <p:cNvSpPr txBox="1"/>
          <p:nvPr/>
        </p:nvSpPr>
        <p:spPr>
          <a:xfrm>
            <a:off x="3992419" y="8787473"/>
            <a:ext cx="186267" cy="215444"/>
          </a:xfrm>
          <a:prstGeom prst="rect">
            <a:avLst/>
          </a:prstGeom>
          <a:noFill/>
        </p:spPr>
        <p:txBody>
          <a:bodyPr wrap="square" rtlCol="0">
            <a:spAutoFit/>
          </a:bodyPr>
          <a:lstStyle/>
          <a:p>
            <a:r>
              <a:rPr lang="en-GB" sz="800" b="1" dirty="0">
                <a:solidFill>
                  <a:schemeClr val="bg1"/>
                </a:solidFill>
              </a:rPr>
              <a:t>2</a:t>
            </a:r>
          </a:p>
        </p:txBody>
      </p:sp>
      <p:sp>
        <p:nvSpPr>
          <p:cNvPr id="3" name="TextBox 2">
            <a:extLst>
              <a:ext uri="{FF2B5EF4-FFF2-40B4-BE49-F238E27FC236}">
                <a16:creationId xmlns:a16="http://schemas.microsoft.com/office/drawing/2014/main" id="{5472DF2D-B31D-8C8F-1E0D-B3EF2EA70AD4}"/>
              </a:ext>
            </a:extLst>
          </p:cNvPr>
          <p:cNvSpPr txBox="1"/>
          <p:nvPr/>
        </p:nvSpPr>
        <p:spPr>
          <a:xfrm>
            <a:off x="4864492" y="1670886"/>
            <a:ext cx="2544211" cy="2893100"/>
          </a:xfrm>
          <a:prstGeom prst="rect">
            <a:avLst/>
          </a:prstGeom>
          <a:noFill/>
        </p:spPr>
        <p:txBody>
          <a:bodyPr wrap="square">
            <a:spAutoFit/>
          </a:bodyPr>
          <a:lstStyle/>
          <a:p>
            <a:r>
              <a:rPr lang="en-GB" sz="1400" dirty="0">
                <a:latin typeface="Times New Roman" panose="02020603050405020304" pitchFamily="18" charset="0"/>
                <a:cs typeface="Times New Roman" panose="02020603050405020304" pitchFamily="18" charset="0"/>
              </a:rPr>
              <a:t>We looked at crime within a quarter-mile of 2 Bondgate. Between August 2023 and January 2024, there were 10 reported crimes.</a:t>
            </a:r>
          </a:p>
          <a:p>
            <a:endParaRPr lang="en-GB" sz="1400" dirty="0">
              <a:latin typeface="Times New Roman" panose="02020603050405020304" pitchFamily="18" charset="0"/>
              <a:cs typeface="Times New Roman" panose="02020603050405020304" pitchFamily="18" charset="0"/>
            </a:endParaRPr>
          </a:p>
          <a:p>
            <a:r>
              <a:rPr lang="en-GB" sz="1400" dirty="0">
                <a:latin typeface="Times New Roman" panose="02020603050405020304" pitchFamily="18" charset="0"/>
                <a:cs typeface="Times New Roman" panose="02020603050405020304" pitchFamily="18" charset="0"/>
              </a:rPr>
              <a:t>The table and map show when and where each crime happened, and what type it was.</a:t>
            </a:r>
          </a:p>
          <a:p>
            <a:endParaRPr lang="en-GB" sz="1400" dirty="0">
              <a:latin typeface="Times New Roman" panose="02020603050405020304" pitchFamily="18" charset="0"/>
              <a:cs typeface="Times New Roman" panose="02020603050405020304" pitchFamily="18" charset="0"/>
            </a:endParaRPr>
          </a:p>
          <a:p>
            <a:r>
              <a:rPr lang="en-GB" sz="1400" dirty="0">
                <a:latin typeface="Times New Roman" panose="02020603050405020304" pitchFamily="18" charset="0"/>
                <a:cs typeface="Times New Roman" panose="02020603050405020304" pitchFamily="18" charset="0"/>
              </a:rPr>
              <a:t>You can compare this with the crime data for your current address on the next page.</a:t>
            </a:r>
          </a:p>
        </p:txBody>
      </p:sp>
    </p:spTree>
    <p:extLst>
      <p:ext uri="{BB962C8B-B14F-4D97-AF65-F5344CB8AC3E}">
        <p14:creationId xmlns:p14="http://schemas.microsoft.com/office/powerpoint/2010/main" val="930635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47865-F714-ABF3-2BDA-14E9A7CBA49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E49AE8-F924-D420-27D4-23B78DC2BCA8}"/>
              </a:ext>
            </a:extLst>
          </p:cNvPr>
          <p:cNvPicPr>
            <a:picLocks noChangeAspect="1"/>
          </p:cNvPicPr>
          <p:nvPr/>
        </p:nvPicPr>
        <p:blipFill>
          <a:blip r:embed="rId2"/>
          <a:stretch>
            <a:fillRect/>
          </a:stretch>
        </p:blipFill>
        <p:spPr>
          <a:xfrm>
            <a:off x="4628391" y="180000"/>
            <a:ext cx="2751284" cy="912242"/>
          </a:xfrm>
          <a:prstGeom prst="rect">
            <a:avLst/>
          </a:prstGeom>
        </p:spPr>
      </p:pic>
      <p:cxnSp>
        <p:nvCxnSpPr>
          <p:cNvPr id="6" name="Straight Connector 5">
            <a:extLst>
              <a:ext uri="{FF2B5EF4-FFF2-40B4-BE49-F238E27FC236}">
                <a16:creationId xmlns:a16="http://schemas.microsoft.com/office/drawing/2014/main" id="{11D3F995-B766-694B-A8BD-36996E39B56A}"/>
              </a:ext>
            </a:extLst>
          </p:cNvPr>
          <p:cNvCxnSpPr/>
          <p:nvPr/>
        </p:nvCxnSpPr>
        <p:spPr>
          <a:xfrm>
            <a:off x="244129" y="1001798"/>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8497573-8811-61E2-0AEE-F7CB61D5C7E9}"/>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2" name="Slide Number Placeholder 5">
            <a:extLst>
              <a:ext uri="{FF2B5EF4-FFF2-40B4-BE49-F238E27FC236}">
                <a16:creationId xmlns:a16="http://schemas.microsoft.com/office/drawing/2014/main" id="{5148D898-4D78-7369-1983-A369F196E191}"/>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6</a:t>
            </a:fld>
            <a:endParaRPr lang="en-GB" sz="1100" dirty="0"/>
          </a:p>
        </p:txBody>
      </p:sp>
      <p:graphicFrame>
        <p:nvGraphicFramePr>
          <p:cNvPr id="3" name="Table 2">
            <a:extLst>
              <a:ext uri="{FF2B5EF4-FFF2-40B4-BE49-F238E27FC236}">
                <a16:creationId xmlns:a16="http://schemas.microsoft.com/office/drawing/2014/main" id="{D31F1962-93F3-2792-8E51-C302438DF183}"/>
              </a:ext>
            </a:extLst>
          </p:cNvPr>
          <p:cNvGraphicFramePr>
            <a:graphicFrameLocks noGrp="1"/>
          </p:cNvGraphicFramePr>
          <p:nvPr>
            <p:extLst>
              <p:ext uri="{D42A27DB-BD31-4B8C-83A1-F6EECF244321}">
                <p14:modId xmlns:p14="http://schemas.microsoft.com/office/powerpoint/2010/main" val="28222889"/>
              </p:ext>
            </p:extLst>
          </p:nvPr>
        </p:nvGraphicFramePr>
        <p:xfrm>
          <a:off x="1728672" y="4065790"/>
          <a:ext cx="3888000" cy="2831489"/>
        </p:xfrm>
        <a:graphic>
          <a:graphicData uri="http://schemas.openxmlformats.org/drawingml/2006/table">
            <a:tbl>
              <a:tblPr firstRow="1" bandRow="1">
                <a:tableStyleId>{073A0DAA-6AF3-43AB-8588-CEC1D06C72B9}</a:tableStyleId>
              </a:tblPr>
              <a:tblGrid>
                <a:gridCol w="756000">
                  <a:extLst>
                    <a:ext uri="{9D8B030D-6E8A-4147-A177-3AD203B41FA5}">
                      <a16:colId xmlns:a16="http://schemas.microsoft.com/office/drawing/2014/main" val="4282054300"/>
                    </a:ext>
                  </a:extLst>
                </a:gridCol>
                <a:gridCol w="1728000">
                  <a:extLst>
                    <a:ext uri="{9D8B030D-6E8A-4147-A177-3AD203B41FA5}">
                      <a16:colId xmlns:a16="http://schemas.microsoft.com/office/drawing/2014/main" val="1363356351"/>
                    </a:ext>
                  </a:extLst>
                </a:gridCol>
                <a:gridCol w="720000">
                  <a:extLst>
                    <a:ext uri="{9D8B030D-6E8A-4147-A177-3AD203B41FA5}">
                      <a16:colId xmlns:a16="http://schemas.microsoft.com/office/drawing/2014/main" val="1526401077"/>
                    </a:ext>
                  </a:extLst>
                </a:gridCol>
                <a:gridCol w="684000">
                  <a:extLst>
                    <a:ext uri="{9D8B030D-6E8A-4147-A177-3AD203B41FA5}">
                      <a16:colId xmlns:a16="http://schemas.microsoft.com/office/drawing/2014/main" val="621077783"/>
                    </a:ext>
                  </a:extLst>
                </a:gridCol>
              </a:tblGrid>
              <a:tr h="396000">
                <a:tc>
                  <a:txBody>
                    <a:bodyPr/>
                    <a:lstStyle/>
                    <a:p>
                      <a:pPr algn="ctr"/>
                      <a:r>
                        <a:rPr lang="en-GB" sz="1100" dirty="0"/>
                        <a:t>Month</a:t>
                      </a:r>
                    </a:p>
                  </a:txBody>
                  <a:tcPr>
                    <a:lnB w="12700" cap="flat" cmpd="sng" algn="ctr">
                      <a:solidFill>
                        <a:schemeClr val="tx1"/>
                      </a:solidFill>
                      <a:prstDash val="solid"/>
                      <a:round/>
                      <a:headEnd type="none" w="med" len="med"/>
                      <a:tailEnd type="none" w="med" len="med"/>
                    </a:lnB>
                  </a:tcPr>
                </a:tc>
                <a:tc>
                  <a:txBody>
                    <a:bodyPr/>
                    <a:lstStyle/>
                    <a:p>
                      <a:pPr algn="l"/>
                      <a:r>
                        <a:rPr lang="en-GB" sz="1100" dirty="0"/>
                        <a:t>Crime Category</a:t>
                      </a:r>
                    </a:p>
                  </a:txBody>
                  <a:tcPr>
                    <a:lnB w="12700" cap="flat" cmpd="sng" algn="ctr">
                      <a:solidFill>
                        <a:schemeClr val="tx1"/>
                      </a:solidFill>
                      <a:prstDash val="solid"/>
                      <a:round/>
                      <a:headEnd type="none" w="med" len="med"/>
                      <a:tailEnd type="none" w="med" len="med"/>
                    </a:lnB>
                  </a:tcPr>
                </a:tc>
                <a:tc>
                  <a:txBody>
                    <a:bodyPr/>
                    <a:lstStyle/>
                    <a:p>
                      <a:pPr algn="ctr"/>
                      <a:r>
                        <a:rPr lang="en-GB" sz="1100" dirty="0"/>
                        <a:t>No. of Incidents</a:t>
                      </a:r>
                    </a:p>
                  </a:txBody>
                  <a:tcPr>
                    <a:lnB w="12700" cap="flat" cmpd="sng" algn="ctr">
                      <a:solidFill>
                        <a:schemeClr val="tx1"/>
                      </a:solidFill>
                      <a:prstDash val="solid"/>
                      <a:round/>
                      <a:headEnd type="none" w="med" len="med"/>
                      <a:tailEnd type="none" w="med" len="med"/>
                    </a:lnB>
                  </a:tcPr>
                </a:tc>
                <a:tc>
                  <a:txBody>
                    <a:bodyPr/>
                    <a:lstStyle/>
                    <a:p>
                      <a:pPr algn="ctr"/>
                      <a:r>
                        <a:rPr lang="en-GB" sz="1100" dirty="0"/>
                        <a:t>Location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76023"/>
                  </a:ext>
                </a:extLst>
              </a:tr>
              <a:tr h="216000">
                <a:tc>
                  <a:txBody>
                    <a:bodyPr/>
                    <a:lstStyle/>
                    <a:p>
                      <a:pPr algn="l"/>
                      <a:r>
                        <a:rPr lang="en-GB" sz="1100" dirty="0"/>
                        <a:t>Jan 2024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r>
                        <a:rPr lang="en-GB" sz="1100" dirty="0"/>
                        <a:t>Theft from person</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rowSpan="3">
                  <a:txBody>
                    <a:bodyPr/>
                    <a:lstStyle/>
                    <a:p>
                      <a:pPr algn="ctr"/>
                      <a:r>
                        <a:rPr lang="en-GB" sz="1100" b="1" dirty="0">
                          <a:solidFill>
                            <a:srgbClr val="9F0B2D"/>
                          </a:solidFill>
                        </a:rPr>
                        <a:t>1. </a:t>
                      </a:r>
                      <a:endParaRPr lang="en-GB" sz="1100"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4002190218"/>
                  </a:ext>
                </a:extLst>
              </a:tr>
              <a:tr h="256645">
                <a:tc>
                  <a:txBody>
                    <a:bodyPr/>
                    <a:lstStyle/>
                    <a:p>
                      <a:pPr algn="l"/>
                      <a:r>
                        <a:rPr lang="en-GB" sz="1100" dirty="0"/>
                        <a:t>Dec 2023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r>
                        <a:rPr lang="en-GB" sz="1100" dirty="0"/>
                        <a:t>Anti-social behaviour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vMerge="1">
                  <a:txBody>
                    <a:bodyPr/>
                    <a:lstStyle/>
                    <a:p>
                      <a:endParaRPr lang="en-GB"/>
                    </a:p>
                  </a:txBody>
                  <a:tcPr/>
                </a:tc>
                <a:extLst>
                  <a:ext uri="{0D108BD9-81ED-4DB2-BD59-A6C34878D82A}">
                    <a16:rowId xmlns:a16="http://schemas.microsoft.com/office/drawing/2014/main" val="3661434356"/>
                  </a:ext>
                </a:extLst>
              </a:tr>
              <a:tr h="332129">
                <a:tc>
                  <a:txBody>
                    <a:bodyPr/>
                    <a:lstStyle/>
                    <a:p>
                      <a:pPr algn="l"/>
                      <a:r>
                        <a:rPr lang="en-GB" sz="1100" dirty="0"/>
                        <a:t>Aug 2023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r>
                        <a:rPr lang="en-GB" sz="1100" dirty="0"/>
                        <a:t>Violence &amp; sexual offenses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2691822"/>
                  </a:ext>
                </a:extLst>
              </a:tr>
              <a:tr h="256645">
                <a:tc rowSpan="2">
                  <a:txBody>
                    <a:bodyPr/>
                    <a:lstStyle/>
                    <a:p>
                      <a:pPr algn="l">
                        <a:lnSpc>
                          <a:spcPct val="200000"/>
                        </a:lnSpc>
                      </a:pPr>
                      <a:r>
                        <a:rPr lang="en-GB" sz="1100" dirty="0"/>
                        <a:t>Jan 2024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rowSpan="4">
                  <a:txBody>
                    <a:bodyPr/>
                    <a:lstStyle/>
                    <a:p>
                      <a:pPr algn="ctr"/>
                      <a:r>
                        <a:rPr lang="en-GB" sz="1100" b="1" dirty="0">
                          <a:solidFill>
                            <a:srgbClr val="9F0B2D"/>
                          </a:solidFill>
                        </a:rPr>
                        <a:t>2. </a:t>
                      </a:r>
                      <a:endParaRPr lang="en-GB" sz="1100"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83340004"/>
                  </a:ext>
                </a:extLst>
              </a:tr>
              <a:tr h="256645">
                <a:tc vMerge="1">
                  <a:txBody>
                    <a:bodyPr/>
                    <a:lstStyle/>
                    <a:p>
                      <a:pPr algn="l"/>
                      <a:endParaRPr lang="en-GB" sz="1100" dirty="0"/>
                    </a:p>
                  </a:txBody>
                  <a:tcP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Criminal damage &amp; arson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vMerge="1">
                  <a:txBody>
                    <a:bodyPr/>
                    <a:lstStyle/>
                    <a:p>
                      <a:endParaRPr lang="en-GB"/>
                    </a:p>
                  </a:txBody>
                  <a:tcPr/>
                </a:tc>
                <a:extLst>
                  <a:ext uri="{0D108BD9-81ED-4DB2-BD59-A6C34878D82A}">
                    <a16:rowId xmlns:a16="http://schemas.microsoft.com/office/drawing/2014/main" val="3682817352"/>
                  </a:ext>
                </a:extLst>
              </a:tr>
              <a:tr h="256645">
                <a:tc rowSpan="2">
                  <a:txBody>
                    <a:bodyPr/>
                    <a:lstStyle/>
                    <a:p>
                      <a:pPr algn="l">
                        <a:lnSpc>
                          <a:spcPct val="200000"/>
                        </a:lnSpc>
                      </a:pPr>
                      <a:r>
                        <a:rPr lang="en-GB" sz="1100" dirty="0"/>
                        <a:t>Nov 2023</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Burglary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solidFill>
                      <a:schemeClr val="bg2">
                        <a:lumMod val="90000"/>
                      </a:schemeClr>
                    </a:solidFill>
                  </a:tcPr>
                </a:tc>
                <a:extLst>
                  <a:ext uri="{0D108BD9-81ED-4DB2-BD59-A6C34878D82A}">
                    <a16:rowId xmlns:a16="http://schemas.microsoft.com/office/drawing/2014/main" val="3426715482"/>
                  </a:ext>
                </a:extLst>
              </a:tr>
              <a:tr h="256645">
                <a:tc vMerge="1">
                  <a:txBody>
                    <a:bodyPr/>
                    <a:lstStyle/>
                    <a:p>
                      <a:endParaRPr lang="en-GB"/>
                    </a:p>
                  </a:txBody>
                  <a:tcPr/>
                </a:tc>
                <a:tc>
                  <a:txBody>
                    <a:bodyPr/>
                    <a:lstStyle/>
                    <a:p>
                      <a:r>
                        <a:rPr lang="en-GB" sz="1100" dirty="0"/>
                        <a:t>Public Order</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54422074"/>
                  </a:ext>
                </a:extLst>
              </a:tr>
              <a:tr h="147038">
                <a:tc>
                  <a:txBody>
                    <a:bodyPr/>
                    <a:lstStyle/>
                    <a:p>
                      <a:pPr algn="l">
                        <a:lnSpc>
                          <a:spcPct val="100000"/>
                        </a:lnSpc>
                      </a:pPr>
                      <a:r>
                        <a:rPr lang="en-GB" sz="1100" dirty="0"/>
                        <a:t>Oct 2023</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6012" rtl="0" eaLnBrk="1" fontAlgn="auto" latinLnBrk="0" hangingPunct="1">
                        <a:lnSpc>
                          <a:spcPct val="100000"/>
                        </a:lnSpc>
                        <a:spcBef>
                          <a:spcPts val="0"/>
                        </a:spcBef>
                        <a:spcAft>
                          <a:spcPts val="0"/>
                        </a:spcAft>
                        <a:buClrTx/>
                        <a:buSzTx/>
                        <a:buFontTx/>
                        <a:buNone/>
                        <a:tabLst/>
                        <a:defRPr/>
                      </a:pPr>
                      <a:r>
                        <a:rPr lang="en-GB" sz="1100" dirty="0"/>
                        <a:t>Violence &amp; sexual offences</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endParaRPr lang="en-GB" sz="1100"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707396536"/>
                  </a:ext>
                </a:extLst>
              </a:tr>
              <a:tr h="147038">
                <a:tc>
                  <a:txBody>
                    <a:bodyPr/>
                    <a:lstStyle/>
                    <a:p>
                      <a:pPr algn="l">
                        <a:lnSpc>
                          <a:spcPct val="100000"/>
                        </a:lnSpc>
                      </a:pPr>
                      <a:r>
                        <a:rPr lang="en-GB" sz="1100" dirty="0"/>
                        <a:t>Aug 2023</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6012" rtl="0" eaLnBrk="1" fontAlgn="auto" latinLnBrk="0" hangingPunct="1">
                        <a:lnSpc>
                          <a:spcPct val="100000"/>
                        </a:lnSpc>
                        <a:spcBef>
                          <a:spcPts val="0"/>
                        </a:spcBef>
                        <a:spcAft>
                          <a:spcPts val="0"/>
                        </a:spcAft>
                        <a:buClrTx/>
                        <a:buSzTx/>
                        <a:buFontTx/>
                        <a:buNone/>
                        <a:tabLst/>
                        <a:defRPr/>
                      </a:pPr>
                      <a:r>
                        <a:rPr lang="en-GB" sz="1100" dirty="0"/>
                        <a:t>Violence &amp; sexual offences</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X2</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endParaRPr lang="en-GB" sz="1100"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412615151"/>
                  </a:ext>
                </a:extLst>
              </a:tr>
            </a:tbl>
          </a:graphicData>
        </a:graphic>
      </p:graphicFrame>
      <p:sp>
        <p:nvSpPr>
          <p:cNvPr id="39" name="TextBox 38">
            <a:extLst>
              <a:ext uri="{FF2B5EF4-FFF2-40B4-BE49-F238E27FC236}">
                <a16:creationId xmlns:a16="http://schemas.microsoft.com/office/drawing/2014/main" id="{04309337-E3A4-DFEC-8A00-CF74BC412120}"/>
              </a:ext>
            </a:extLst>
          </p:cNvPr>
          <p:cNvSpPr txBox="1"/>
          <p:nvPr/>
        </p:nvSpPr>
        <p:spPr>
          <a:xfrm>
            <a:off x="-4764753" y="5270551"/>
            <a:ext cx="186267" cy="215444"/>
          </a:xfrm>
          <a:prstGeom prst="rect">
            <a:avLst/>
          </a:prstGeom>
          <a:noFill/>
        </p:spPr>
        <p:txBody>
          <a:bodyPr wrap="square" rtlCol="0">
            <a:spAutoFit/>
          </a:bodyPr>
          <a:lstStyle/>
          <a:p>
            <a:r>
              <a:rPr lang="en-GB" sz="800" b="1" dirty="0"/>
              <a:t>7</a:t>
            </a:r>
          </a:p>
        </p:txBody>
      </p:sp>
      <p:sp>
        <p:nvSpPr>
          <p:cNvPr id="46" name="TextBox 45">
            <a:extLst>
              <a:ext uri="{FF2B5EF4-FFF2-40B4-BE49-F238E27FC236}">
                <a16:creationId xmlns:a16="http://schemas.microsoft.com/office/drawing/2014/main" id="{2BB898BD-519A-8C8E-A5B4-F231AFA5B795}"/>
              </a:ext>
            </a:extLst>
          </p:cNvPr>
          <p:cNvSpPr txBox="1"/>
          <p:nvPr/>
        </p:nvSpPr>
        <p:spPr>
          <a:xfrm>
            <a:off x="-4754921" y="5697088"/>
            <a:ext cx="186267" cy="215444"/>
          </a:xfrm>
          <a:prstGeom prst="rect">
            <a:avLst/>
          </a:prstGeom>
          <a:noFill/>
        </p:spPr>
        <p:txBody>
          <a:bodyPr wrap="square" rtlCol="0">
            <a:spAutoFit/>
          </a:bodyPr>
          <a:lstStyle/>
          <a:p>
            <a:r>
              <a:rPr lang="en-GB" sz="800" b="1" dirty="0"/>
              <a:t>8</a:t>
            </a:r>
          </a:p>
        </p:txBody>
      </p:sp>
      <p:sp>
        <p:nvSpPr>
          <p:cNvPr id="7" name="TextBox 6">
            <a:extLst>
              <a:ext uri="{FF2B5EF4-FFF2-40B4-BE49-F238E27FC236}">
                <a16:creationId xmlns:a16="http://schemas.microsoft.com/office/drawing/2014/main" id="{F5A806A9-E37E-3788-F73E-F6A16EE1A15F}"/>
              </a:ext>
            </a:extLst>
          </p:cNvPr>
          <p:cNvSpPr txBox="1"/>
          <p:nvPr/>
        </p:nvSpPr>
        <p:spPr>
          <a:xfrm>
            <a:off x="243840" y="1241062"/>
            <a:ext cx="448326" cy="307392"/>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2.2</a:t>
            </a:r>
          </a:p>
        </p:txBody>
      </p:sp>
      <p:pic>
        <p:nvPicPr>
          <p:cNvPr id="4" name="Picture 3" descr="A map of a neighborhood&#10;&#10;AI-generated content may be incorrect.">
            <a:extLst>
              <a:ext uri="{FF2B5EF4-FFF2-40B4-BE49-F238E27FC236}">
                <a16:creationId xmlns:a16="http://schemas.microsoft.com/office/drawing/2014/main" id="{8971BCF4-A080-DD7A-5C92-D81559230811}"/>
              </a:ext>
            </a:extLst>
          </p:cNvPr>
          <p:cNvPicPr>
            <a:picLocks noChangeAspect="1"/>
          </p:cNvPicPr>
          <p:nvPr/>
        </p:nvPicPr>
        <p:blipFill>
          <a:blip r:embed="rId3"/>
          <a:srcRect l="14538" t="2826" r="19872" b="19660"/>
          <a:stretch>
            <a:fillRect/>
          </a:stretch>
        </p:blipFill>
        <p:spPr>
          <a:xfrm>
            <a:off x="512762" y="2261383"/>
            <a:ext cx="6534150" cy="5814231"/>
          </a:xfrm>
          <a:prstGeom prst="rect">
            <a:avLst/>
          </a:prstGeom>
        </p:spPr>
      </p:pic>
      <p:sp>
        <p:nvSpPr>
          <p:cNvPr id="9" name="Oval 8">
            <a:extLst>
              <a:ext uri="{FF2B5EF4-FFF2-40B4-BE49-F238E27FC236}">
                <a16:creationId xmlns:a16="http://schemas.microsoft.com/office/drawing/2014/main" id="{CFE3A284-D434-EB42-206F-52D88A8004F6}"/>
              </a:ext>
            </a:extLst>
          </p:cNvPr>
          <p:cNvSpPr/>
          <p:nvPr/>
        </p:nvSpPr>
        <p:spPr>
          <a:xfrm>
            <a:off x="3115273" y="3488001"/>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9B469941-C143-FDC7-205C-C44BC6BEEA26}"/>
              </a:ext>
            </a:extLst>
          </p:cNvPr>
          <p:cNvSpPr txBox="1"/>
          <p:nvPr/>
        </p:nvSpPr>
        <p:spPr>
          <a:xfrm>
            <a:off x="3096979" y="3472205"/>
            <a:ext cx="186267" cy="215444"/>
          </a:xfrm>
          <a:prstGeom prst="rect">
            <a:avLst/>
          </a:prstGeom>
          <a:noFill/>
        </p:spPr>
        <p:txBody>
          <a:bodyPr wrap="square" rtlCol="0">
            <a:spAutoFit/>
          </a:bodyPr>
          <a:lstStyle/>
          <a:p>
            <a:r>
              <a:rPr lang="en-GB" sz="800" b="1" dirty="0">
                <a:solidFill>
                  <a:schemeClr val="bg1"/>
                </a:solidFill>
              </a:rPr>
              <a:t>3</a:t>
            </a:r>
          </a:p>
        </p:txBody>
      </p:sp>
      <p:sp>
        <p:nvSpPr>
          <p:cNvPr id="11" name="Oval 10">
            <a:extLst>
              <a:ext uri="{FF2B5EF4-FFF2-40B4-BE49-F238E27FC236}">
                <a16:creationId xmlns:a16="http://schemas.microsoft.com/office/drawing/2014/main" id="{EC9A6AE7-3C18-D7BC-A31D-312B2371AABE}"/>
              </a:ext>
            </a:extLst>
          </p:cNvPr>
          <p:cNvSpPr/>
          <p:nvPr/>
        </p:nvSpPr>
        <p:spPr>
          <a:xfrm>
            <a:off x="3989159" y="3410594"/>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7A3D7CAC-40B0-6B91-A913-F8DE8821ABAA}"/>
              </a:ext>
            </a:extLst>
          </p:cNvPr>
          <p:cNvSpPr txBox="1"/>
          <p:nvPr/>
        </p:nvSpPr>
        <p:spPr>
          <a:xfrm>
            <a:off x="3970865" y="3394798"/>
            <a:ext cx="186267" cy="215444"/>
          </a:xfrm>
          <a:prstGeom prst="rect">
            <a:avLst/>
          </a:prstGeom>
          <a:noFill/>
        </p:spPr>
        <p:txBody>
          <a:bodyPr wrap="square" rtlCol="0">
            <a:spAutoFit/>
          </a:bodyPr>
          <a:lstStyle/>
          <a:p>
            <a:r>
              <a:rPr lang="en-GB" sz="800" b="1" dirty="0">
                <a:solidFill>
                  <a:schemeClr val="bg1"/>
                </a:solidFill>
              </a:rPr>
              <a:t>2</a:t>
            </a:r>
          </a:p>
        </p:txBody>
      </p:sp>
      <p:sp>
        <p:nvSpPr>
          <p:cNvPr id="14" name="Oval 13">
            <a:extLst>
              <a:ext uri="{FF2B5EF4-FFF2-40B4-BE49-F238E27FC236}">
                <a16:creationId xmlns:a16="http://schemas.microsoft.com/office/drawing/2014/main" id="{8A84D8D5-7DF1-49DF-D0D6-C1DA843A5094}"/>
              </a:ext>
            </a:extLst>
          </p:cNvPr>
          <p:cNvSpPr/>
          <p:nvPr/>
        </p:nvSpPr>
        <p:spPr>
          <a:xfrm>
            <a:off x="6379983" y="3152459"/>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7800783-1353-B07A-5F0B-CBED7CF6AE53}"/>
              </a:ext>
            </a:extLst>
          </p:cNvPr>
          <p:cNvSpPr txBox="1"/>
          <p:nvPr/>
        </p:nvSpPr>
        <p:spPr>
          <a:xfrm>
            <a:off x="6361689" y="3136663"/>
            <a:ext cx="186267" cy="215444"/>
          </a:xfrm>
          <a:prstGeom prst="rect">
            <a:avLst/>
          </a:prstGeom>
          <a:noFill/>
        </p:spPr>
        <p:txBody>
          <a:bodyPr wrap="square" rtlCol="0">
            <a:spAutoFit/>
          </a:bodyPr>
          <a:lstStyle/>
          <a:p>
            <a:r>
              <a:rPr lang="en-GB" sz="800" b="1" dirty="0">
                <a:solidFill>
                  <a:schemeClr val="bg1"/>
                </a:solidFill>
              </a:rPr>
              <a:t>1</a:t>
            </a:r>
          </a:p>
        </p:txBody>
      </p:sp>
      <p:sp>
        <p:nvSpPr>
          <p:cNvPr id="17" name="Oval 16">
            <a:extLst>
              <a:ext uri="{FF2B5EF4-FFF2-40B4-BE49-F238E27FC236}">
                <a16:creationId xmlns:a16="http://schemas.microsoft.com/office/drawing/2014/main" id="{D65B643D-C145-849C-9CCF-701657A0FE44}"/>
              </a:ext>
            </a:extLst>
          </p:cNvPr>
          <p:cNvSpPr/>
          <p:nvPr/>
        </p:nvSpPr>
        <p:spPr>
          <a:xfrm>
            <a:off x="6193716" y="5213117"/>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F4C852E-80DA-13C5-B224-626797CD653A}"/>
              </a:ext>
            </a:extLst>
          </p:cNvPr>
          <p:cNvSpPr txBox="1"/>
          <p:nvPr/>
        </p:nvSpPr>
        <p:spPr>
          <a:xfrm>
            <a:off x="6175422" y="5197321"/>
            <a:ext cx="186267" cy="215444"/>
          </a:xfrm>
          <a:prstGeom prst="rect">
            <a:avLst/>
          </a:prstGeom>
          <a:noFill/>
        </p:spPr>
        <p:txBody>
          <a:bodyPr wrap="square" rtlCol="0">
            <a:spAutoFit/>
          </a:bodyPr>
          <a:lstStyle/>
          <a:p>
            <a:r>
              <a:rPr lang="en-GB" sz="800" b="1" dirty="0">
                <a:solidFill>
                  <a:schemeClr val="bg1"/>
                </a:solidFill>
              </a:rPr>
              <a:t>4</a:t>
            </a:r>
          </a:p>
        </p:txBody>
      </p:sp>
      <p:sp>
        <p:nvSpPr>
          <p:cNvPr id="19" name="Oval 18">
            <a:extLst>
              <a:ext uri="{FF2B5EF4-FFF2-40B4-BE49-F238E27FC236}">
                <a16:creationId xmlns:a16="http://schemas.microsoft.com/office/drawing/2014/main" id="{31345F1A-C098-BEFF-7637-98E9C9DAE70B}"/>
              </a:ext>
            </a:extLst>
          </p:cNvPr>
          <p:cNvSpPr/>
          <p:nvPr/>
        </p:nvSpPr>
        <p:spPr>
          <a:xfrm>
            <a:off x="4868204" y="5407771"/>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FA61C508-462F-417C-8F18-19D6C02A64C0}"/>
              </a:ext>
            </a:extLst>
          </p:cNvPr>
          <p:cNvSpPr txBox="1"/>
          <p:nvPr/>
        </p:nvSpPr>
        <p:spPr>
          <a:xfrm>
            <a:off x="4849910" y="5391975"/>
            <a:ext cx="186267" cy="215444"/>
          </a:xfrm>
          <a:prstGeom prst="rect">
            <a:avLst/>
          </a:prstGeom>
          <a:noFill/>
        </p:spPr>
        <p:txBody>
          <a:bodyPr wrap="square" rtlCol="0">
            <a:spAutoFit/>
          </a:bodyPr>
          <a:lstStyle/>
          <a:p>
            <a:r>
              <a:rPr lang="en-GB" sz="800" b="1" dirty="0">
                <a:solidFill>
                  <a:schemeClr val="bg1"/>
                </a:solidFill>
              </a:rPr>
              <a:t>6</a:t>
            </a:r>
          </a:p>
        </p:txBody>
      </p:sp>
      <p:sp>
        <p:nvSpPr>
          <p:cNvPr id="21" name="Oval 20">
            <a:extLst>
              <a:ext uri="{FF2B5EF4-FFF2-40B4-BE49-F238E27FC236}">
                <a16:creationId xmlns:a16="http://schemas.microsoft.com/office/drawing/2014/main" id="{CEBA7A3D-3EEC-8A91-5F8C-BDB47B3B8969}"/>
              </a:ext>
            </a:extLst>
          </p:cNvPr>
          <p:cNvSpPr/>
          <p:nvPr/>
        </p:nvSpPr>
        <p:spPr>
          <a:xfrm>
            <a:off x="2674069" y="4674811"/>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831FC5C4-FCFE-FE6E-687B-5A9A42109A7B}"/>
              </a:ext>
            </a:extLst>
          </p:cNvPr>
          <p:cNvSpPr txBox="1"/>
          <p:nvPr/>
        </p:nvSpPr>
        <p:spPr>
          <a:xfrm>
            <a:off x="2655775" y="4649490"/>
            <a:ext cx="186267" cy="215444"/>
          </a:xfrm>
          <a:prstGeom prst="rect">
            <a:avLst/>
          </a:prstGeom>
          <a:noFill/>
        </p:spPr>
        <p:txBody>
          <a:bodyPr wrap="square" rtlCol="0">
            <a:spAutoFit/>
          </a:bodyPr>
          <a:lstStyle/>
          <a:p>
            <a:r>
              <a:rPr lang="en-GB" sz="800" b="1" dirty="0">
                <a:solidFill>
                  <a:schemeClr val="bg1"/>
                </a:solidFill>
              </a:rPr>
              <a:t>7</a:t>
            </a:r>
          </a:p>
        </p:txBody>
      </p:sp>
      <p:sp>
        <p:nvSpPr>
          <p:cNvPr id="23" name="Oval 22">
            <a:extLst>
              <a:ext uri="{FF2B5EF4-FFF2-40B4-BE49-F238E27FC236}">
                <a16:creationId xmlns:a16="http://schemas.microsoft.com/office/drawing/2014/main" id="{458C4CB1-72EC-997A-7A3E-AFF5C16F0EE9}"/>
              </a:ext>
            </a:extLst>
          </p:cNvPr>
          <p:cNvSpPr/>
          <p:nvPr/>
        </p:nvSpPr>
        <p:spPr>
          <a:xfrm>
            <a:off x="6202485" y="4597404"/>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0B09B61-7679-4423-F727-293BD16B7F59}"/>
              </a:ext>
            </a:extLst>
          </p:cNvPr>
          <p:cNvSpPr txBox="1"/>
          <p:nvPr/>
        </p:nvSpPr>
        <p:spPr>
          <a:xfrm>
            <a:off x="6184191" y="4581608"/>
            <a:ext cx="186267" cy="215444"/>
          </a:xfrm>
          <a:prstGeom prst="rect">
            <a:avLst/>
          </a:prstGeom>
          <a:noFill/>
        </p:spPr>
        <p:txBody>
          <a:bodyPr wrap="square" rtlCol="0">
            <a:spAutoFit/>
          </a:bodyPr>
          <a:lstStyle/>
          <a:p>
            <a:r>
              <a:rPr lang="en-GB" sz="800" b="1" dirty="0">
                <a:solidFill>
                  <a:schemeClr val="bg1"/>
                </a:solidFill>
              </a:rPr>
              <a:t>5</a:t>
            </a:r>
          </a:p>
        </p:txBody>
      </p:sp>
      <p:sp>
        <p:nvSpPr>
          <p:cNvPr id="25" name="Oval 24">
            <a:extLst>
              <a:ext uri="{FF2B5EF4-FFF2-40B4-BE49-F238E27FC236}">
                <a16:creationId xmlns:a16="http://schemas.microsoft.com/office/drawing/2014/main" id="{9CF31778-377B-91AF-F471-9CDB16F019F1}"/>
              </a:ext>
            </a:extLst>
          </p:cNvPr>
          <p:cNvSpPr/>
          <p:nvPr/>
        </p:nvSpPr>
        <p:spPr>
          <a:xfrm>
            <a:off x="5334505" y="7250116"/>
            <a:ext cx="186267" cy="169333"/>
          </a:xfrm>
          <a:prstGeom prst="ellipse">
            <a:avLst/>
          </a:prstGeom>
          <a:solidFill>
            <a:srgbClr val="9F0B2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B09F3D10-7423-934B-A0B6-74A62CD99B1B}"/>
              </a:ext>
            </a:extLst>
          </p:cNvPr>
          <p:cNvSpPr txBox="1"/>
          <p:nvPr/>
        </p:nvSpPr>
        <p:spPr>
          <a:xfrm>
            <a:off x="5316211" y="7234320"/>
            <a:ext cx="186267" cy="215444"/>
          </a:xfrm>
          <a:prstGeom prst="rect">
            <a:avLst/>
          </a:prstGeom>
          <a:noFill/>
        </p:spPr>
        <p:txBody>
          <a:bodyPr wrap="square" rtlCol="0">
            <a:spAutoFit/>
          </a:bodyPr>
          <a:lstStyle/>
          <a:p>
            <a:r>
              <a:rPr lang="en-GB" sz="800" b="1" dirty="0">
                <a:solidFill>
                  <a:schemeClr val="bg1"/>
                </a:solidFill>
              </a:rPr>
              <a:t>8</a:t>
            </a:r>
          </a:p>
        </p:txBody>
      </p:sp>
      <p:sp>
        <p:nvSpPr>
          <p:cNvPr id="27" name="TextBox 26">
            <a:extLst>
              <a:ext uri="{FF2B5EF4-FFF2-40B4-BE49-F238E27FC236}">
                <a16:creationId xmlns:a16="http://schemas.microsoft.com/office/drawing/2014/main" id="{AD16D02C-969F-1409-C829-1A2D161FFD5E}"/>
              </a:ext>
            </a:extLst>
          </p:cNvPr>
          <p:cNvSpPr txBox="1"/>
          <p:nvPr/>
        </p:nvSpPr>
        <p:spPr>
          <a:xfrm>
            <a:off x="243840" y="8693223"/>
            <a:ext cx="7025062" cy="307392"/>
          </a:xfrm>
          <a:prstGeom prst="rect">
            <a:avLst/>
          </a:prstGeom>
          <a:noFill/>
        </p:spPr>
        <p:txBody>
          <a:bodyPr wrap="square">
            <a:spAutoFit/>
          </a:bodyPr>
          <a:lstStyle/>
          <a:p>
            <a:pPr algn="ctr">
              <a:lnSpc>
                <a:spcPct val="107000"/>
              </a:lnSpc>
              <a:spcAft>
                <a:spcPts val="800"/>
              </a:spcAft>
            </a:pPr>
            <a:r>
              <a:rPr lang="en-GB" sz="1400" b="1" kern="100" dirty="0">
                <a:solidFill>
                  <a:schemeClr val="bg1">
                    <a:lumMod val="85000"/>
                  </a:schemeClr>
                </a:solidFill>
                <a:latin typeface="Times New Roman" panose="02020603050405020304" pitchFamily="18" charset="0"/>
                <a:ea typeface="Calibri" panose="020F0502020204030204" pitchFamily="34" charset="0"/>
                <a:cs typeface="Times New Roman" panose="02020603050405020304" pitchFamily="18" charset="0"/>
              </a:rPr>
              <a:t>T U R N   T O   N E X T   P A G E</a:t>
            </a:r>
          </a:p>
        </p:txBody>
      </p:sp>
      <p:cxnSp>
        <p:nvCxnSpPr>
          <p:cNvPr id="28" name="Straight Connector 27">
            <a:extLst>
              <a:ext uri="{FF2B5EF4-FFF2-40B4-BE49-F238E27FC236}">
                <a16:creationId xmlns:a16="http://schemas.microsoft.com/office/drawing/2014/main" id="{0ACF71D2-4B26-9631-5C6F-63745A76914C}"/>
              </a:ext>
            </a:extLst>
          </p:cNvPr>
          <p:cNvCxnSpPr/>
          <p:nvPr/>
        </p:nvCxnSpPr>
        <p:spPr>
          <a:xfrm>
            <a:off x="243840" y="8586716"/>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42B4E9-8A13-5334-15D5-1F5CDEA3E32E}"/>
              </a:ext>
            </a:extLst>
          </p:cNvPr>
          <p:cNvSpPr txBox="1"/>
          <p:nvPr/>
        </p:nvSpPr>
        <p:spPr>
          <a:xfrm>
            <a:off x="692166" y="1227743"/>
            <a:ext cx="6354746" cy="738664"/>
          </a:xfrm>
          <a:prstGeom prst="rect">
            <a:avLst/>
          </a:prstGeom>
          <a:noFill/>
        </p:spPr>
        <p:txBody>
          <a:bodyPr wrap="square">
            <a:spAutoFit/>
          </a:bodyPr>
          <a:lstStyle/>
          <a:p>
            <a:r>
              <a:rPr lang="en-GB" sz="1400" dirty="0">
                <a:latin typeface="Times New Roman" panose="02020603050405020304" pitchFamily="18" charset="0"/>
                <a:cs typeface="Times New Roman" panose="02020603050405020304" pitchFamily="18" charset="0"/>
              </a:rPr>
              <a:t>We also looked at crime within a quarter-mile of your current address. This lets you compare the two areas to see which neighbourhood is currently safer. Over the same six months, there were 21 reported crimes near 25 Woodlea Garth.</a:t>
            </a:r>
          </a:p>
        </p:txBody>
      </p:sp>
      <p:sp>
        <p:nvSpPr>
          <p:cNvPr id="34" name="TextBox 33">
            <a:extLst>
              <a:ext uri="{FF2B5EF4-FFF2-40B4-BE49-F238E27FC236}">
                <a16:creationId xmlns:a16="http://schemas.microsoft.com/office/drawing/2014/main" id="{8EBE178E-7B19-295F-4BDE-58A3DDDDF175}"/>
              </a:ext>
            </a:extLst>
          </p:cNvPr>
          <p:cNvSpPr txBox="1"/>
          <p:nvPr/>
        </p:nvSpPr>
        <p:spPr>
          <a:xfrm>
            <a:off x="512762" y="8136360"/>
            <a:ext cx="6534150" cy="215444"/>
          </a:xfrm>
          <a:prstGeom prst="rect">
            <a:avLst/>
          </a:prstGeom>
          <a:noFill/>
        </p:spPr>
        <p:txBody>
          <a:bodyPr wrap="square">
            <a:spAutoFit/>
          </a:bodyPr>
          <a:lstStyle/>
          <a:p>
            <a:pPr algn="ctr"/>
            <a:r>
              <a:rPr lang="en-GB" sz="800" b="1" dirty="0">
                <a:latin typeface="Times New Roman" panose="02020603050405020304" pitchFamily="18" charset="0"/>
                <a:cs typeface="Times New Roman" panose="02020603050405020304" pitchFamily="18" charset="0"/>
              </a:rPr>
              <a:t>*Note: 'Other Crime' (such as forgery and perjury) has been left out of this data."</a:t>
            </a:r>
          </a:p>
        </p:txBody>
      </p:sp>
    </p:spTree>
    <p:extLst>
      <p:ext uri="{BB962C8B-B14F-4D97-AF65-F5344CB8AC3E}">
        <p14:creationId xmlns:p14="http://schemas.microsoft.com/office/powerpoint/2010/main" val="1668547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4976B-3354-E2A8-B08F-229B2ECE14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1432A8A-3867-7E9C-3D07-2B6EDAB7167A}"/>
              </a:ext>
            </a:extLst>
          </p:cNvPr>
          <p:cNvPicPr>
            <a:picLocks noChangeAspect="1"/>
          </p:cNvPicPr>
          <p:nvPr/>
        </p:nvPicPr>
        <p:blipFill>
          <a:blip r:embed="rId2"/>
          <a:stretch>
            <a:fillRect/>
          </a:stretch>
        </p:blipFill>
        <p:spPr>
          <a:xfrm>
            <a:off x="4628391" y="180000"/>
            <a:ext cx="2751284" cy="912242"/>
          </a:xfrm>
          <a:prstGeom prst="rect">
            <a:avLst/>
          </a:prstGeom>
        </p:spPr>
      </p:pic>
      <p:cxnSp>
        <p:nvCxnSpPr>
          <p:cNvPr id="6" name="Straight Connector 5">
            <a:extLst>
              <a:ext uri="{FF2B5EF4-FFF2-40B4-BE49-F238E27FC236}">
                <a16:creationId xmlns:a16="http://schemas.microsoft.com/office/drawing/2014/main" id="{621CE016-3135-7C73-CC1F-2ABAEF3AE925}"/>
              </a:ext>
            </a:extLst>
          </p:cNvPr>
          <p:cNvCxnSpPr/>
          <p:nvPr/>
        </p:nvCxnSpPr>
        <p:spPr>
          <a:xfrm>
            <a:off x="244129" y="1001798"/>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FD2175-1758-F29D-1569-045CFB448CD4}"/>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2" name="Slide Number Placeholder 5">
            <a:extLst>
              <a:ext uri="{FF2B5EF4-FFF2-40B4-BE49-F238E27FC236}">
                <a16:creationId xmlns:a16="http://schemas.microsoft.com/office/drawing/2014/main" id="{1FE4D80A-7D7E-196D-1517-1A92D660ED36}"/>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7</a:t>
            </a:fld>
            <a:endParaRPr lang="en-GB" sz="1100" dirty="0"/>
          </a:p>
        </p:txBody>
      </p:sp>
      <p:graphicFrame>
        <p:nvGraphicFramePr>
          <p:cNvPr id="3" name="Table 2">
            <a:extLst>
              <a:ext uri="{FF2B5EF4-FFF2-40B4-BE49-F238E27FC236}">
                <a16:creationId xmlns:a16="http://schemas.microsoft.com/office/drawing/2014/main" id="{7255B4D7-C99A-8881-5EBB-2C852DC88474}"/>
              </a:ext>
            </a:extLst>
          </p:cNvPr>
          <p:cNvGraphicFramePr>
            <a:graphicFrameLocks noGrp="1"/>
          </p:cNvGraphicFramePr>
          <p:nvPr>
            <p:extLst>
              <p:ext uri="{D42A27DB-BD31-4B8C-83A1-F6EECF244321}">
                <p14:modId xmlns:p14="http://schemas.microsoft.com/office/powerpoint/2010/main" val="698757236"/>
              </p:ext>
            </p:extLst>
          </p:nvPr>
        </p:nvGraphicFramePr>
        <p:xfrm>
          <a:off x="1835837" y="1288507"/>
          <a:ext cx="3888000" cy="2831489"/>
        </p:xfrm>
        <a:graphic>
          <a:graphicData uri="http://schemas.openxmlformats.org/drawingml/2006/table">
            <a:tbl>
              <a:tblPr firstRow="1" bandRow="1">
                <a:tableStyleId>{073A0DAA-6AF3-43AB-8588-CEC1D06C72B9}</a:tableStyleId>
              </a:tblPr>
              <a:tblGrid>
                <a:gridCol w="756000">
                  <a:extLst>
                    <a:ext uri="{9D8B030D-6E8A-4147-A177-3AD203B41FA5}">
                      <a16:colId xmlns:a16="http://schemas.microsoft.com/office/drawing/2014/main" val="4282054300"/>
                    </a:ext>
                  </a:extLst>
                </a:gridCol>
                <a:gridCol w="1728000">
                  <a:extLst>
                    <a:ext uri="{9D8B030D-6E8A-4147-A177-3AD203B41FA5}">
                      <a16:colId xmlns:a16="http://schemas.microsoft.com/office/drawing/2014/main" val="1363356351"/>
                    </a:ext>
                  </a:extLst>
                </a:gridCol>
                <a:gridCol w="720000">
                  <a:extLst>
                    <a:ext uri="{9D8B030D-6E8A-4147-A177-3AD203B41FA5}">
                      <a16:colId xmlns:a16="http://schemas.microsoft.com/office/drawing/2014/main" val="1526401077"/>
                    </a:ext>
                  </a:extLst>
                </a:gridCol>
                <a:gridCol w="684000">
                  <a:extLst>
                    <a:ext uri="{9D8B030D-6E8A-4147-A177-3AD203B41FA5}">
                      <a16:colId xmlns:a16="http://schemas.microsoft.com/office/drawing/2014/main" val="621077783"/>
                    </a:ext>
                  </a:extLst>
                </a:gridCol>
              </a:tblGrid>
              <a:tr h="396000">
                <a:tc>
                  <a:txBody>
                    <a:bodyPr/>
                    <a:lstStyle/>
                    <a:p>
                      <a:pPr algn="ctr"/>
                      <a:r>
                        <a:rPr lang="en-GB" sz="1100" dirty="0"/>
                        <a:t>Month</a:t>
                      </a:r>
                    </a:p>
                  </a:txBody>
                  <a:tcPr>
                    <a:lnB w="12700" cap="flat" cmpd="sng" algn="ctr">
                      <a:solidFill>
                        <a:schemeClr val="tx1"/>
                      </a:solidFill>
                      <a:prstDash val="solid"/>
                      <a:round/>
                      <a:headEnd type="none" w="med" len="med"/>
                      <a:tailEnd type="none" w="med" len="med"/>
                    </a:lnB>
                  </a:tcPr>
                </a:tc>
                <a:tc>
                  <a:txBody>
                    <a:bodyPr/>
                    <a:lstStyle/>
                    <a:p>
                      <a:pPr algn="l"/>
                      <a:r>
                        <a:rPr lang="en-GB" sz="1100" dirty="0"/>
                        <a:t>Crime Category</a:t>
                      </a:r>
                    </a:p>
                  </a:txBody>
                  <a:tcPr>
                    <a:lnB w="12700" cap="flat" cmpd="sng" algn="ctr">
                      <a:solidFill>
                        <a:schemeClr val="tx1"/>
                      </a:solidFill>
                      <a:prstDash val="solid"/>
                      <a:round/>
                      <a:headEnd type="none" w="med" len="med"/>
                      <a:tailEnd type="none" w="med" len="med"/>
                    </a:lnB>
                  </a:tcPr>
                </a:tc>
                <a:tc>
                  <a:txBody>
                    <a:bodyPr/>
                    <a:lstStyle/>
                    <a:p>
                      <a:pPr algn="ctr"/>
                      <a:r>
                        <a:rPr lang="en-GB" sz="1100" dirty="0"/>
                        <a:t>No. of Incidents</a:t>
                      </a:r>
                    </a:p>
                  </a:txBody>
                  <a:tcPr>
                    <a:lnB w="12700" cap="flat" cmpd="sng" algn="ctr">
                      <a:solidFill>
                        <a:schemeClr val="tx1"/>
                      </a:solidFill>
                      <a:prstDash val="solid"/>
                      <a:round/>
                      <a:headEnd type="none" w="med" len="med"/>
                      <a:tailEnd type="none" w="med" len="med"/>
                    </a:lnB>
                  </a:tcPr>
                </a:tc>
                <a:tc>
                  <a:txBody>
                    <a:bodyPr/>
                    <a:lstStyle/>
                    <a:p>
                      <a:pPr algn="ctr"/>
                      <a:r>
                        <a:rPr lang="en-GB" sz="1100" dirty="0"/>
                        <a:t>Location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76023"/>
                  </a:ext>
                </a:extLst>
              </a:tr>
              <a:tr h="216000">
                <a:tc>
                  <a:txBody>
                    <a:bodyPr/>
                    <a:lstStyle/>
                    <a:p>
                      <a:pPr algn="l"/>
                      <a:r>
                        <a:rPr lang="en-GB" sz="1100" dirty="0"/>
                        <a:t>Jan 2024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r>
                        <a:rPr lang="en-GB" sz="1100" dirty="0"/>
                        <a:t>Theft from person</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rowSpan="3">
                  <a:txBody>
                    <a:bodyPr/>
                    <a:lstStyle/>
                    <a:p>
                      <a:pPr algn="ctr"/>
                      <a:r>
                        <a:rPr lang="en-GB" sz="1100" b="1" dirty="0">
                          <a:solidFill>
                            <a:srgbClr val="9F0B2D"/>
                          </a:solidFill>
                        </a:rPr>
                        <a:t>1. </a:t>
                      </a:r>
                      <a:endParaRPr lang="en-GB" sz="1100"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4002190218"/>
                  </a:ext>
                </a:extLst>
              </a:tr>
              <a:tr h="256645">
                <a:tc>
                  <a:txBody>
                    <a:bodyPr/>
                    <a:lstStyle/>
                    <a:p>
                      <a:pPr algn="l"/>
                      <a:r>
                        <a:rPr lang="en-GB" sz="1100" dirty="0"/>
                        <a:t>Dec 2023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r>
                        <a:rPr lang="en-GB" sz="1100" dirty="0"/>
                        <a:t>Anti-social behaviour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vMerge="1">
                  <a:txBody>
                    <a:bodyPr/>
                    <a:lstStyle/>
                    <a:p>
                      <a:endParaRPr lang="en-GB"/>
                    </a:p>
                  </a:txBody>
                  <a:tcPr/>
                </a:tc>
                <a:extLst>
                  <a:ext uri="{0D108BD9-81ED-4DB2-BD59-A6C34878D82A}">
                    <a16:rowId xmlns:a16="http://schemas.microsoft.com/office/drawing/2014/main" val="3661434356"/>
                  </a:ext>
                </a:extLst>
              </a:tr>
              <a:tr h="332129">
                <a:tc>
                  <a:txBody>
                    <a:bodyPr/>
                    <a:lstStyle/>
                    <a:p>
                      <a:pPr algn="l"/>
                      <a:r>
                        <a:rPr lang="en-GB" sz="1100" dirty="0"/>
                        <a:t>Aug 2023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r>
                        <a:rPr lang="en-GB" sz="1100" dirty="0"/>
                        <a:t>Violence &amp; sexual offenses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12691822"/>
                  </a:ext>
                </a:extLst>
              </a:tr>
              <a:tr h="256645">
                <a:tc rowSpan="2">
                  <a:txBody>
                    <a:bodyPr/>
                    <a:lstStyle/>
                    <a:p>
                      <a:pPr algn="l">
                        <a:lnSpc>
                          <a:spcPct val="200000"/>
                        </a:lnSpc>
                      </a:pPr>
                      <a:r>
                        <a:rPr lang="en-GB" sz="1100" dirty="0"/>
                        <a:t>Jan 2024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rowSpan="4">
                  <a:txBody>
                    <a:bodyPr/>
                    <a:lstStyle/>
                    <a:p>
                      <a:pPr algn="ctr"/>
                      <a:r>
                        <a:rPr lang="en-GB" sz="1100" b="1" dirty="0">
                          <a:solidFill>
                            <a:srgbClr val="9F0B2D"/>
                          </a:solidFill>
                        </a:rPr>
                        <a:t>2. </a:t>
                      </a:r>
                      <a:endParaRPr lang="en-GB" sz="1100"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83340004"/>
                  </a:ext>
                </a:extLst>
              </a:tr>
              <a:tr h="256645">
                <a:tc vMerge="1">
                  <a:txBody>
                    <a:bodyPr/>
                    <a:lstStyle/>
                    <a:p>
                      <a:pPr algn="l"/>
                      <a:endParaRPr lang="en-GB" sz="1100" dirty="0"/>
                    </a:p>
                  </a:txBody>
                  <a:tcP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Criminal damage &amp; arson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vMerge="1">
                  <a:txBody>
                    <a:bodyPr/>
                    <a:lstStyle/>
                    <a:p>
                      <a:endParaRPr lang="en-GB"/>
                    </a:p>
                  </a:txBody>
                  <a:tcPr/>
                </a:tc>
                <a:extLst>
                  <a:ext uri="{0D108BD9-81ED-4DB2-BD59-A6C34878D82A}">
                    <a16:rowId xmlns:a16="http://schemas.microsoft.com/office/drawing/2014/main" val="3682817352"/>
                  </a:ext>
                </a:extLst>
              </a:tr>
              <a:tr h="256645">
                <a:tc rowSpan="2">
                  <a:txBody>
                    <a:bodyPr/>
                    <a:lstStyle/>
                    <a:p>
                      <a:pPr algn="l">
                        <a:lnSpc>
                          <a:spcPct val="200000"/>
                        </a:lnSpc>
                      </a:pPr>
                      <a:r>
                        <a:rPr lang="en-GB" sz="1100" dirty="0"/>
                        <a:t>Nov 2023</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Burglary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solidFill>
                      <a:schemeClr val="bg2">
                        <a:lumMod val="90000"/>
                      </a:schemeClr>
                    </a:solidFill>
                  </a:tcPr>
                </a:tc>
                <a:extLst>
                  <a:ext uri="{0D108BD9-81ED-4DB2-BD59-A6C34878D82A}">
                    <a16:rowId xmlns:a16="http://schemas.microsoft.com/office/drawing/2014/main" val="3426715482"/>
                  </a:ext>
                </a:extLst>
              </a:tr>
              <a:tr h="256645">
                <a:tc vMerge="1">
                  <a:txBody>
                    <a:bodyPr/>
                    <a:lstStyle/>
                    <a:p>
                      <a:endParaRPr lang="en-GB"/>
                    </a:p>
                  </a:txBody>
                  <a:tcPr/>
                </a:tc>
                <a:tc>
                  <a:txBody>
                    <a:bodyPr/>
                    <a:lstStyle/>
                    <a:p>
                      <a:r>
                        <a:rPr lang="en-GB" sz="1100" dirty="0"/>
                        <a:t>Public Order</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54422074"/>
                  </a:ext>
                </a:extLst>
              </a:tr>
              <a:tr h="147038">
                <a:tc>
                  <a:txBody>
                    <a:bodyPr/>
                    <a:lstStyle/>
                    <a:p>
                      <a:pPr algn="l">
                        <a:lnSpc>
                          <a:spcPct val="100000"/>
                        </a:lnSpc>
                      </a:pPr>
                      <a:r>
                        <a:rPr lang="en-GB" sz="1100" dirty="0"/>
                        <a:t>Oct 2023</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6012" rtl="0" eaLnBrk="1" fontAlgn="auto" latinLnBrk="0" hangingPunct="1">
                        <a:lnSpc>
                          <a:spcPct val="100000"/>
                        </a:lnSpc>
                        <a:spcBef>
                          <a:spcPts val="0"/>
                        </a:spcBef>
                        <a:spcAft>
                          <a:spcPts val="0"/>
                        </a:spcAft>
                        <a:buClrTx/>
                        <a:buSzTx/>
                        <a:buFontTx/>
                        <a:buNone/>
                        <a:tabLst/>
                        <a:defRPr/>
                      </a:pPr>
                      <a:r>
                        <a:rPr lang="en-GB" sz="1100" dirty="0"/>
                        <a:t>Violence &amp; sexual offences</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endParaRPr lang="en-GB" sz="1100"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707396536"/>
                  </a:ext>
                </a:extLst>
              </a:tr>
              <a:tr h="147038">
                <a:tc>
                  <a:txBody>
                    <a:bodyPr/>
                    <a:lstStyle/>
                    <a:p>
                      <a:pPr algn="l">
                        <a:lnSpc>
                          <a:spcPct val="100000"/>
                        </a:lnSpc>
                      </a:pPr>
                      <a:r>
                        <a:rPr lang="en-GB" sz="1100" dirty="0"/>
                        <a:t>Aug 2023</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6012" rtl="0" eaLnBrk="1" fontAlgn="auto" latinLnBrk="0" hangingPunct="1">
                        <a:lnSpc>
                          <a:spcPct val="100000"/>
                        </a:lnSpc>
                        <a:spcBef>
                          <a:spcPts val="0"/>
                        </a:spcBef>
                        <a:spcAft>
                          <a:spcPts val="0"/>
                        </a:spcAft>
                        <a:buClrTx/>
                        <a:buSzTx/>
                        <a:buFontTx/>
                        <a:buNone/>
                        <a:tabLst/>
                        <a:defRPr/>
                      </a:pPr>
                      <a:r>
                        <a:rPr lang="en-GB" sz="1100" dirty="0"/>
                        <a:t>Violence &amp; sexual offences</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X2</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endParaRPr lang="en-GB" sz="1100" dirty="0">
                        <a:solidFill>
                          <a:schemeClr val="tx1"/>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412615151"/>
                  </a:ext>
                </a:extLst>
              </a:tr>
            </a:tbl>
          </a:graphicData>
        </a:graphic>
      </p:graphicFrame>
      <p:sp>
        <p:nvSpPr>
          <p:cNvPr id="39" name="TextBox 38">
            <a:extLst>
              <a:ext uri="{FF2B5EF4-FFF2-40B4-BE49-F238E27FC236}">
                <a16:creationId xmlns:a16="http://schemas.microsoft.com/office/drawing/2014/main" id="{A36246E5-4D78-3617-6697-3A01E4E0E113}"/>
              </a:ext>
            </a:extLst>
          </p:cNvPr>
          <p:cNvSpPr txBox="1"/>
          <p:nvPr/>
        </p:nvSpPr>
        <p:spPr>
          <a:xfrm>
            <a:off x="-4764753" y="5270551"/>
            <a:ext cx="186267" cy="215444"/>
          </a:xfrm>
          <a:prstGeom prst="rect">
            <a:avLst/>
          </a:prstGeom>
          <a:noFill/>
        </p:spPr>
        <p:txBody>
          <a:bodyPr wrap="square" rtlCol="0">
            <a:spAutoFit/>
          </a:bodyPr>
          <a:lstStyle/>
          <a:p>
            <a:r>
              <a:rPr lang="en-GB" sz="800" b="1" dirty="0"/>
              <a:t>7</a:t>
            </a:r>
          </a:p>
        </p:txBody>
      </p:sp>
      <p:sp>
        <p:nvSpPr>
          <p:cNvPr id="46" name="TextBox 45">
            <a:extLst>
              <a:ext uri="{FF2B5EF4-FFF2-40B4-BE49-F238E27FC236}">
                <a16:creationId xmlns:a16="http://schemas.microsoft.com/office/drawing/2014/main" id="{E39865A7-32FC-59F0-8F4F-C63C55830BD8}"/>
              </a:ext>
            </a:extLst>
          </p:cNvPr>
          <p:cNvSpPr txBox="1"/>
          <p:nvPr/>
        </p:nvSpPr>
        <p:spPr>
          <a:xfrm>
            <a:off x="-4754921" y="5697088"/>
            <a:ext cx="186267" cy="215444"/>
          </a:xfrm>
          <a:prstGeom prst="rect">
            <a:avLst/>
          </a:prstGeom>
          <a:noFill/>
        </p:spPr>
        <p:txBody>
          <a:bodyPr wrap="square" rtlCol="0">
            <a:spAutoFit/>
          </a:bodyPr>
          <a:lstStyle/>
          <a:p>
            <a:r>
              <a:rPr lang="en-GB" sz="800" b="1" dirty="0"/>
              <a:t>8</a:t>
            </a:r>
          </a:p>
        </p:txBody>
      </p:sp>
      <p:graphicFrame>
        <p:nvGraphicFramePr>
          <p:cNvPr id="67" name="Table 66">
            <a:extLst>
              <a:ext uri="{FF2B5EF4-FFF2-40B4-BE49-F238E27FC236}">
                <a16:creationId xmlns:a16="http://schemas.microsoft.com/office/drawing/2014/main" id="{1A5A0332-D190-6596-2DE5-F4C8CC17B562}"/>
              </a:ext>
            </a:extLst>
          </p:cNvPr>
          <p:cNvGraphicFramePr>
            <a:graphicFrameLocks noGrp="1"/>
          </p:cNvGraphicFramePr>
          <p:nvPr>
            <p:extLst>
              <p:ext uri="{D42A27DB-BD31-4B8C-83A1-F6EECF244321}">
                <p14:modId xmlns:p14="http://schemas.microsoft.com/office/powerpoint/2010/main" val="1981987866"/>
              </p:ext>
            </p:extLst>
          </p:nvPr>
        </p:nvGraphicFramePr>
        <p:xfrm>
          <a:off x="1835837" y="4119996"/>
          <a:ext cx="3888000" cy="3369763"/>
        </p:xfrm>
        <a:graphic>
          <a:graphicData uri="http://schemas.openxmlformats.org/drawingml/2006/table">
            <a:tbl>
              <a:tblPr firstRow="1" bandRow="1">
                <a:tableStyleId>{073A0DAA-6AF3-43AB-8588-CEC1D06C72B9}</a:tableStyleId>
              </a:tblPr>
              <a:tblGrid>
                <a:gridCol w="756000">
                  <a:extLst>
                    <a:ext uri="{9D8B030D-6E8A-4147-A177-3AD203B41FA5}">
                      <a16:colId xmlns:a16="http://schemas.microsoft.com/office/drawing/2014/main" val="4282054300"/>
                    </a:ext>
                  </a:extLst>
                </a:gridCol>
                <a:gridCol w="1797813">
                  <a:extLst>
                    <a:ext uri="{9D8B030D-6E8A-4147-A177-3AD203B41FA5}">
                      <a16:colId xmlns:a16="http://schemas.microsoft.com/office/drawing/2014/main" val="1363356351"/>
                    </a:ext>
                  </a:extLst>
                </a:gridCol>
                <a:gridCol w="650187">
                  <a:extLst>
                    <a:ext uri="{9D8B030D-6E8A-4147-A177-3AD203B41FA5}">
                      <a16:colId xmlns:a16="http://schemas.microsoft.com/office/drawing/2014/main" val="1526401077"/>
                    </a:ext>
                  </a:extLst>
                </a:gridCol>
                <a:gridCol w="684000">
                  <a:extLst>
                    <a:ext uri="{9D8B030D-6E8A-4147-A177-3AD203B41FA5}">
                      <a16:colId xmlns:a16="http://schemas.microsoft.com/office/drawing/2014/main" val="3264713197"/>
                    </a:ext>
                  </a:extLst>
                </a:gridCol>
              </a:tblGrid>
              <a:tr h="233303">
                <a:tc>
                  <a:txBody>
                    <a:bodyPr/>
                    <a:lstStyle/>
                    <a:p>
                      <a:pPr algn="l"/>
                      <a:r>
                        <a:rPr lang="en-GB" sz="1100" b="0" dirty="0">
                          <a:solidFill>
                            <a:schemeClr val="tx1"/>
                          </a:solidFill>
                        </a:rPr>
                        <a:t>Jan 2024</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E7E7E7"/>
                    </a:solidFill>
                  </a:tcPr>
                </a:tc>
                <a:tc>
                  <a:txBody>
                    <a:bodyPr/>
                    <a:lstStyle/>
                    <a:p>
                      <a:pPr marL="0" marR="0" lvl="0" indent="0" algn="l" defTabSz="756012" rtl="0" eaLnBrk="1" fontAlgn="auto" latinLnBrk="0" hangingPunct="1">
                        <a:lnSpc>
                          <a:spcPct val="100000"/>
                        </a:lnSpc>
                        <a:spcBef>
                          <a:spcPts val="0"/>
                        </a:spcBef>
                        <a:spcAft>
                          <a:spcPts val="0"/>
                        </a:spcAft>
                        <a:buClrTx/>
                        <a:buSzTx/>
                        <a:buFontTx/>
                        <a:buNone/>
                        <a:tabLst/>
                        <a:defRPr/>
                      </a:pPr>
                      <a:r>
                        <a:rPr lang="en-GB" sz="1100" b="0" dirty="0">
                          <a:solidFill>
                            <a:schemeClr val="tx1"/>
                          </a:solidFill>
                        </a:rPr>
                        <a:t>Violence &amp; sexual offenses</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E7E7E7"/>
                    </a:solidFill>
                  </a:tcPr>
                </a:tc>
                <a:tc>
                  <a:txBody>
                    <a:bodyPr/>
                    <a:lstStyle/>
                    <a:p>
                      <a:pPr algn="ctr"/>
                      <a:r>
                        <a:rPr lang="en-GB" sz="1100" b="0" dirty="0">
                          <a:solidFill>
                            <a:schemeClr val="tx1"/>
                          </a:solidFill>
                        </a:rPr>
                        <a:t>X1</a:t>
                      </a:r>
                    </a:p>
                  </a:txBody>
                  <a:tcP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E7E7E7"/>
                    </a:solidFill>
                  </a:tcPr>
                </a:tc>
                <a:tc rowSpan="3">
                  <a:txBody>
                    <a:bodyPr/>
                    <a:lstStyle/>
                    <a:p>
                      <a:pPr algn="ctr"/>
                      <a:r>
                        <a:rPr lang="en-GB" sz="1100" b="1" dirty="0">
                          <a:solidFill>
                            <a:srgbClr val="C00000"/>
                          </a:solidFill>
                        </a:rPr>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4002190218"/>
                  </a:ext>
                </a:extLst>
              </a:tr>
              <a:tr h="233303">
                <a:tc>
                  <a:txBody>
                    <a:bodyPr/>
                    <a:lstStyle/>
                    <a:p>
                      <a:pPr algn="l"/>
                      <a:r>
                        <a:rPr lang="en-GB" sz="1100" dirty="0"/>
                        <a:t>Sep 2023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7E7E7"/>
                    </a:solidFill>
                  </a:tcPr>
                </a:tc>
                <a:tc>
                  <a:txBody>
                    <a:bodyPr/>
                    <a:lstStyle/>
                    <a:p>
                      <a:r>
                        <a:rPr lang="en-GB" sz="1100" dirty="0"/>
                        <a:t>Vehicle Crime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38100" cmpd="sng">
                      <a:noFill/>
                    </a:lnR>
                    <a:lnT w="38100" cmpd="sng">
                      <a:noFill/>
                    </a:lnT>
                    <a:lnB w="12700" cmpd="sng">
                      <a:noFill/>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solidFill>
                      <a:srgbClr val="E7E7E7"/>
                    </a:solidFill>
                  </a:tcPr>
                </a:tc>
                <a:extLst>
                  <a:ext uri="{0D108BD9-81ED-4DB2-BD59-A6C34878D82A}">
                    <a16:rowId xmlns:a16="http://schemas.microsoft.com/office/drawing/2014/main" val="3661434356"/>
                  </a:ext>
                </a:extLst>
              </a:tr>
              <a:tr h="299083">
                <a:tc>
                  <a:txBody>
                    <a:bodyPr/>
                    <a:lstStyle/>
                    <a:p>
                      <a:pPr algn="l"/>
                      <a:r>
                        <a:rPr lang="en-GB" sz="1100" dirty="0"/>
                        <a:t>Aug 2023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r>
                        <a:rPr lang="en-GB" sz="1100" dirty="0"/>
                        <a:t>Public Order</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381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412691822"/>
                  </a:ext>
                </a:extLst>
              </a:tr>
              <a:tr h="233303">
                <a:tc>
                  <a:txBody>
                    <a:bodyPr/>
                    <a:lstStyle/>
                    <a:p>
                      <a:pPr algn="l">
                        <a:lnSpc>
                          <a:spcPct val="100000"/>
                        </a:lnSpc>
                      </a:pPr>
                      <a:r>
                        <a:rPr lang="en-GB" sz="1100" dirty="0"/>
                        <a:t>Dec 2023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Robbery</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rowSpan="2">
                  <a:txBody>
                    <a:bodyPr/>
                    <a:lstStyle/>
                    <a:p>
                      <a:pPr algn="ctr"/>
                      <a:r>
                        <a:rPr lang="en-GB" sz="1100" b="1" dirty="0">
                          <a:solidFill>
                            <a:srgbClr val="C00000"/>
                          </a:solidFill>
                        </a:rPr>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83340004"/>
                  </a:ext>
                </a:extLst>
              </a:tr>
              <a:tr h="288000">
                <a:tc>
                  <a:txBody>
                    <a:bodyPr/>
                    <a:lstStyle/>
                    <a:p>
                      <a:pPr algn="l">
                        <a:lnSpc>
                          <a:spcPct val="100000"/>
                        </a:lnSpc>
                      </a:pPr>
                      <a:r>
                        <a:rPr lang="en-GB" sz="1100" dirty="0"/>
                        <a:t>Oct 2023</a:t>
                      </a:r>
                    </a:p>
                  </a:txBody>
                  <a:tcPr>
                    <a:lnL w="12700" cmpd="sng">
                      <a:noFill/>
                    </a:lnL>
                    <a:lnR w="12700" cmpd="sng">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Public Order</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dirty="0"/>
                    </a:p>
                  </a:txBody>
                  <a:tcPr>
                    <a:lnL w="12700" cmpd="sng">
                      <a:noFill/>
                    </a:lnL>
                    <a:lnR w="12700" cmpd="sng">
                      <a:noFill/>
                    </a:lnR>
                    <a:solidFill>
                      <a:srgbClr val="E7E7E7"/>
                    </a:solidFill>
                  </a:tcPr>
                </a:tc>
                <a:extLst>
                  <a:ext uri="{0D108BD9-81ED-4DB2-BD59-A6C34878D82A}">
                    <a16:rowId xmlns:a16="http://schemas.microsoft.com/office/drawing/2014/main" val="3682817352"/>
                  </a:ext>
                </a:extLst>
              </a:tr>
              <a:tr h="288000">
                <a:tc>
                  <a:txBody>
                    <a:bodyPr/>
                    <a:lstStyle/>
                    <a:p>
                      <a:pPr algn="l">
                        <a:lnSpc>
                          <a:spcPct val="100000"/>
                        </a:lnSpc>
                      </a:pPr>
                      <a:r>
                        <a:rPr lang="en-GB" sz="1100" dirty="0"/>
                        <a:t>Nov 2023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b="1" dirty="0">
                          <a:solidFill>
                            <a:srgbClr val="C00000"/>
                          </a:solidFill>
                        </a:rPr>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464341858"/>
                  </a:ext>
                </a:extLst>
              </a:tr>
              <a:tr h="288000">
                <a:tc>
                  <a:txBody>
                    <a:bodyPr/>
                    <a:lstStyle/>
                    <a:p>
                      <a:pPr algn="l">
                        <a:lnSpc>
                          <a:spcPct val="100000"/>
                        </a:lnSpc>
                      </a:pPr>
                      <a:r>
                        <a:rPr lang="en-GB" sz="1100" dirty="0"/>
                        <a:t>Oct 2023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b="1" dirty="0">
                          <a:solidFill>
                            <a:srgbClr val="C00000"/>
                          </a:solidFill>
                        </a:rPr>
                        <a:t>6.</a:t>
                      </a:r>
                    </a:p>
                    <a:p>
                      <a:pPr algn="ctr"/>
                      <a:endParaRPr lang="en-GB" sz="1100" b="1" dirty="0">
                        <a:solidFill>
                          <a:srgbClr val="C00000"/>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558953040"/>
                  </a:ext>
                </a:extLst>
              </a:tr>
              <a:tr h="288000">
                <a:tc>
                  <a:txBody>
                    <a:bodyPr/>
                    <a:lstStyle/>
                    <a:p>
                      <a:pPr algn="l">
                        <a:lnSpc>
                          <a:spcPct val="100000"/>
                        </a:lnSpc>
                      </a:pPr>
                      <a:r>
                        <a:rPr lang="en-GB" sz="1100" dirty="0"/>
                        <a:t>Sep 2023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Violence &amp; sexual offenses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a:t>
                      </a:r>
                      <a:r>
                        <a:rPr lang="en-GB" sz="1100"/>
                        <a:t>1</a:t>
                      </a:r>
                      <a:endParaRPr lang="en-GB" sz="11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rowSpan="2">
                  <a:txBody>
                    <a:bodyPr/>
                    <a:lstStyle/>
                    <a:p>
                      <a:pPr algn="ctr"/>
                      <a:r>
                        <a:rPr lang="en-GB" sz="1100" b="1" dirty="0">
                          <a:solidFill>
                            <a:srgbClr val="C00000"/>
                          </a:solidFill>
                        </a:rPr>
                        <a:t>7.</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689322192"/>
                  </a:ext>
                </a:extLst>
              </a:tr>
              <a:tr h="203486">
                <a:tc>
                  <a:txBody>
                    <a:bodyPr/>
                    <a:lstStyle/>
                    <a:p>
                      <a:pPr algn="l">
                        <a:lnSpc>
                          <a:spcPct val="100000"/>
                        </a:lnSpc>
                      </a:pPr>
                      <a:r>
                        <a:rPr lang="en-GB" sz="1100" dirty="0"/>
                        <a:t>Aug 2023</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Anti-social behaviour</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ctr" defTabSz="756012" rtl="0" eaLnBrk="1" fontAlgn="auto" latinLnBrk="0" hangingPunct="1">
                        <a:lnSpc>
                          <a:spcPct val="100000"/>
                        </a:lnSpc>
                        <a:spcBef>
                          <a:spcPts val="0"/>
                        </a:spcBef>
                        <a:spcAft>
                          <a:spcPts val="0"/>
                        </a:spcAft>
                        <a:buClrTx/>
                        <a:buSzTx/>
                        <a:buFontTx/>
                        <a:buNone/>
                        <a:tabLst/>
                        <a:defRPr/>
                      </a:pPr>
                      <a:r>
                        <a:rPr lang="en-GB" sz="1100" dirty="0"/>
                        <a:t>X1</a:t>
                      </a:r>
                    </a:p>
                    <a:p>
                      <a:pPr algn="ctr"/>
                      <a:endParaRPr lang="en-GB" sz="1100" dirty="0"/>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b="1" dirty="0">
                        <a:solidFill>
                          <a:srgbClr val="C00000"/>
                        </a:solidFill>
                      </a:endParaRP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722114895"/>
                  </a:ext>
                </a:extLst>
              </a:tr>
              <a:tr h="288000">
                <a:tc>
                  <a:txBody>
                    <a:bodyPr/>
                    <a:lstStyle/>
                    <a:p>
                      <a:pPr algn="l">
                        <a:lnSpc>
                          <a:spcPct val="100000"/>
                        </a:lnSpc>
                      </a:pPr>
                      <a:r>
                        <a:rPr lang="en-GB" sz="1100" dirty="0"/>
                        <a:t>Sep 2023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Public order</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tc rowSpan="2">
                  <a:txBody>
                    <a:bodyPr/>
                    <a:lstStyle/>
                    <a:p>
                      <a:pPr algn="ctr"/>
                      <a:r>
                        <a:rPr lang="en-GB" sz="1100" b="1" dirty="0">
                          <a:solidFill>
                            <a:srgbClr val="C00000"/>
                          </a:solidFill>
                        </a:rPr>
                        <a:t>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597296271"/>
                  </a:ext>
                </a:extLst>
              </a:tr>
              <a:tr h="288000">
                <a:tc>
                  <a:txBody>
                    <a:bodyPr/>
                    <a:lstStyle/>
                    <a:p>
                      <a:pPr algn="l">
                        <a:lnSpc>
                          <a:spcPct val="100000"/>
                        </a:lnSpc>
                      </a:pPr>
                      <a:r>
                        <a:rPr lang="en-GB" sz="1100" dirty="0"/>
                        <a:t>Aug 2023</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marL="0" marR="0" lvl="0" indent="0" algn="l" defTabSz="755973" rtl="0" eaLnBrk="1" fontAlgn="auto" latinLnBrk="0" hangingPunct="1">
                        <a:lnSpc>
                          <a:spcPct val="100000"/>
                        </a:lnSpc>
                        <a:spcBef>
                          <a:spcPts val="0"/>
                        </a:spcBef>
                        <a:spcAft>
                          <a:spcPts val="0"/>
                        </a:spcAft>
                        <a:buClrTx/>
                        <a:buSzTx/>
                        <a:buFontTx/>
                        <a:buNone/>
                        <a:tabLst/>
                        <a:defRPr/>
                      </a:pPr>
                      <a:r>
                        <a:rPr lang="en-GB" sz="1100" dirty="0"/>
                        <a:t>Public order</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r>
                        <a:rPr lang="en-GB" sz="1100" dirty="0"/>
                        <a:t>X1</a:t>
                      </a:r>
                    </a:p>
                  </a:txBody>
                  <a:tcP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vMerge="1">
                  <a:txBody>
                    <a:bodyPr/>
                    <a:lstStyle/>
                    <a:p>
                      <a:pPr algn="ctr"/>
                      <a:endParaRPr lang="en-GB" sz="1100" b="1" dirty="0">
                        <a:solidFill>
                          <a:srgbClr val="C00000"/>
                        </a:solidFill>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500890416"/>
                  </a:ext>
                </a:extLst>
              </a:tr>
            </a:tbl>
          </a:graphicData>
        </a:graphic>
      </p:graphicFrame>
      <p:sp>
        <p:nvSpPr>
          <p:cNvPr id="4" name="TextBox 3">
            <a:extLst>
              <a:ext uri="{FF2B5EF4-FFF2-40B4-BE49-F238E27FC236}">
                <a16:creationId xmlns:a16="http://schemas.microsoft.com/office/drawing/2014/main" id="{D5269FFC-7B6F-FC98-7A15-7B7776FAA746}"/>
              </a:ext>
            </a:extLst>
          </p:cNvPr>
          <p:cNvSpPr txBox="1"/>
          <p:nvPr/>
        </p:nvSpPr>
        <p:spPr>
          <a:xfrm>
            <a:off x="243840" y="8005765"/>
            <a:ext cx="7025062" cy="307392"/>
          </a:xfrm>
          <a:prstGeom prst="rect">
            <a:avLst/>
          </a:prstGeom>
          <a:noFill/>
        </p:spPr>
        <p:txBody>
          <a:bodyPr wrap="square">
            <a:spAutoFit/>
          </a:bodyPr>
          <a:lstStyle/>
          <a:p>
            <a:pPr algn="ctr">
              <a:lnSpc>
                <a:spcPct val="107000"/>
              </a:lnSpc>
              <a:spcAft>
                <a:spcPts val="800"/>
              </a:spcAft>
            </a:pPr>
            <a:r>
              <a:rPr lang="en-GB" sz="1400" b="1" kern="100" dirty="0">
                <a:solidFill>
                  <a:schemeClr val="bg1">
                    <a:lumMod val="85000"/>
                  </a:schemeClr>
                </a:solidFill>
                <a:latin typeface="Times New Roman" panose="02020603050405020304" pitchFamily="18" charset="0"/>
                <a:ea typeface="Calibri" panose="020F0502020204030204" pitchFamily="34" charset="0"/>
                <a:cs typeface="Times New Roman" panose="02020603050405020304" pitchFamily="18" charset="0"/>
              </a:rPr>
              <a:t>T U R N   T O   N E X T   P A G E</a:t>
            </a:r>
          </a:p>
        </p:txBody>
      </p:sp>
      <p:cxnSp>
        <p:nvCxnSpPr>
          <p:cNvPr id="8" name="Straight Connector 7">
            <a:extLst>
              <a:ext uri="{FF2B5EF4-FFF2-40B4-BE49-F238E27FC236}">
                <a16:creationId xmlns:a16="http://schemas.microsoft.com/office/drawing/2014/main" id="{442C73B8-E0AD-0B96-E0BB-C28554E5C0B5}"/>
              </a:ext>
            </a:extLst>
          </p:cNvPr>
          <p:cNvCxnSpPr/>
          <p:nvPr/>
        </p:nvCxnSpPr>
        <p:spPr>
          <a:xfrm>
            <a:off x="243840" y="7899258"/>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950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DAEE305E-ABF6-28FD-AF6D-75352732F167}"/>
              </a:ext>
            </a:extLst>
          </p:cNvPr>
          <p:cNvGrpSpPr/>
          <p:nvPr/>
        </p:nvGrpSpPr>
        <p:grpSpPr>
          <a:xfrm>
            <a:off x="844180" y="2683706"/>
            <a:ext cx="5950159" cy="6121115"/>
            <a:chOff x="844180" y="2683706"/>
            <a:chExt cx="5950159" cy="6121115"/>
          </a:xfrm>
        </p:grpSpPr>
        <p:pic>
          <p:nvPicPr>
            <p:cNvPr id="8" name="Picture 7" descr="A map of a town&#10;&#10;AI-generated content may be incorrect.">
              <a:extLst>
                <a:ext uri="{FF2B5EF4-FFF2-40B4-BE49-F238E27FC236}">
                  <a16:creationId xmlns:a16="http://schemas.microsoft.com/office/drawing/2014/main" id="{736AE283-7DF8-BA18-0EA4-F6DEA460B816}"/>
                </a:ext>
              </a:extLst>
            </p:cNvPr>
            <p:cNvPicPr>
              <a:picLocks noChangeAspect="1"/>
            </p:cNvPicPr>
            <p:nvPr/>
          </p:nvPicPr>
          <p:blipFill>
            <a:blip r:embed="rId2"/>
            <a:srcRect t="2347" b="3864"/>
            <a:stretch>
              <a:fillRect/>
            </a:stretch>
          </p:blipFill>
          <p:spPr>
            <a:xfrm>
              <a:off x="844180" y="2683706"/>
              <a:ext cx="5950159" cy="6121115"/>
            </a:xfrm>
            <a:prstGeom prst="rect">
              <a:avLst/>
            </a:prstGeom>
          </p:spPr>
        </p:pic>
        <p:pic>
          <p:nvPicPr>
            <p:cNvPr id="33" name="Picture 32" descr="A map of a town&#10;&#10;AI-generated content may be incorrect.">
              <a:extLst>
                <a:ext uri="{FF2B5EF4-FFF2-40B4-BE49-F238E27FC236}">
                  <a16:creationId xmlns:a16="http://schemas.microsoft.com/office/drawing/2014/main" id="{6FD34BED-D886-97BE-71B4-D4665F99622F}"/>
                </a:ext>
              </a:extLst>
            </p:cNvPr>
            <p:cNvPicPr>
              <a:picLocks noChangeAspect="1"/>
            </p:cNvPicPr>
            <p:nvPr/>
          </p:nvPicPr>
          <p:blipFill>
            <a:blip r:embed="rId2"/>
            <a:srcRect l="32015" t="85155" r="65846" b="12469"/>
            <a:stretch>
              <a:fillRect/>
            </a:stretch>
          </p:blipFill>
          <p:spPr>
            <a:xfrm>
              <a:off x="2663189" y="8005480"/>
              <a:ext cx="127289" cy="155050"/>
            </a:xfrm>
            <a:prstGeom prst="rect">
              <a:avLst/>
            </a:prstGeom>
          </p:spPr>
        </p:pic>
      </p:grpSp>
      <p:pic>
        <p:nvPicPr>
          <p:cNvPr id="4" name="Picture 3">
            <a:extLst>
              <a:ext uri="{FF2B5EF4-FFF2-40B4-BE49-F238E27FC236}">
                <a16:creationId xmlns:a16="http://schemas.microsoft.com/office/drawing/2014/main" id="{BBE332D6-C848-1476-853A-72ED62F2677A}"/>
              </a:ext>
            </a:extLst>
          </p:cNvPr>
          <p:cNvPicPr>
            <a:picLocks noChangeAspect="1"/>
          </p:cNvPicPr>
          <p:nvPr/>
        </p:nvPicPr>
        <p:blipFill>
          <a:blip r:embed="rId3"/>
          <a:stretch>
            <a:fillRect/>
          </a:stretch>
        </p:blipFill>
        <p:spPr>
          <a:xfrm>
            <a:off x="4628391" y="180000"/>
            <a:ext cx="2751284" cy="912242"/>
          </a:xfrm>
          <a:prstGeom prst="rect">
            <a:avLst/>
          </a:prstGeom>
        </p:spPr>
      </p:pic>
      <p:cxnSp>
        <p:nvCxnSpPr>
          <p:cNvPr id="5" name="Straight Connector 4">
            <a:extLst>
              <a:ext uri="{FF2B5EF4-FFF2-40B4-BE49-F238E27FC236}">
                <a16:creationId xmlns:a16="http://schemas.microsoft.com/office/drawing/2014/main" id="{E9625575-0FAC-F6A8-CA89-3712ED1124C2}"/>
              </a:ext>
            </a:extLst>
          </p:cNvPr>
          <p:cNvCxnSpPr/>
          <p:nvPr/>
        </p:nvCxnSpPr>
        <p:spPr>
          <a:xfrm>
            <a:off x="244129" y="1001798"/>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B9474F1-2B2F-95CF-FD1B-4A53E4A6F23A}"/>
              </a:ext>
            </a:extLst>
          </p:cNvPr>
          <p:cNvSpPr txBox="1"/>
          <p:nvPr/>
        </p:nvSpPr>
        <p:spPr>
          <a:xfrm>
            <a:off x="243840" y="1198214"/>
            <a:ext cx="7025062" cy="307392"/>
          </a:xfrm>
          <a:prstGeom prst="rect">
            <a:avLst/>
          </a:prstGeom>
          <a:noFill/>
        </p:spPr>
        <p:txBody>
          <a:bodyPr wrap="square">
            <a:spAutoFit/>
          </a:bodyPr>
          <a:lstStyle/>
          <a:p>
            <a:pPr>
              <a:lnSpc>
                <a:spcPct val="107000"/>
              </a:lnSpc>
              <a:spcAft>
                <a:spcPts val="800"/>
              </a:spcAft>
            </a:pPr>
            <a:r>
              <a:rPr lang="en-GB" sz="1400" b="1" kern="100" dirty="0">
                <a:latin typeface="Times New Roman" panose="02020603050405020304" pitchFamily="18" charset="0"/>
                <a:ea typeface="Calibri" panose="020F0502020204030204" pitchFamily="34" charset="0"/>
                <a:cs typeface="Times New Roman" panose="02020603050405020304" pitchFamily="18" charset="0"/>
              </a:rPr>
              <a:t>NEAREST AFFORDABLE HOUSE</a:t>
            </a:r>
          </a:p>
        </p:txBody>
      </p:sp>
      <p:sp>
        <p:nvSpPr>
          <p:cNvPr id="19" name="TextBox 18">
            <a:extLst>
              <a:ext uri="{FF2B5EF4-FFF2-40B4-BE49-F238E27FC236}">
                <a16:creationId xmlns:a16="http://schemas.microsoft.com/office/drawing/2014/main" id="{89B25353-4B5D-A3DF-635C-BC179CFB8730}"/>
              </a:ext>
            </a:extLst>
          </p:cNvPr>
          <p:cNvSpPr txBox="1"/>
          <p:nvPr/>
        </p:nvSpPr>
        <p:spPr>
          <a:xfrm>
            <a:off x="243841" y="9383015"/>
            <a:ext cx="7025062" cy="307392"/>
          </a:xfrm>
          <a:prstGeom prst="rect">
            <a:avLst/>
          </a:prstGeom>
          <a:noFill/>
        </p:spPr>
        <p:txBody>
          <a:bodyPr wrap="square">
            <a:spAutoFit/>
          </a:bodyPr>
          <a:lstStyle/>
          <a:p>
            <a:pPr algn="ctr">
              <a:lnSpc>
                <a:spcPct val="107000"/>
              </a:lnSpc>
              <a:spcAft>
                <a:spcPts val="800"/>
              </a:spcAft>
            </a:pPr>
            <a:r>
              <a:rPr lang="en-GB" sz="1400" b="1" kern="100" dirty="0">
                <a:solidFill>
                  <a:schemeClr val="bg1">
                    <a:lumMod val="85000"/>
                  </a:schemeClr>
                </a:solidFill>
                <a:latin typeface="Times New Roman" panose="02020603050405020304" pitchFamily="18" charset="0"/>
                <a:ea typeface="Calibri" panose="020F0502020204030204" pitchFamily="34" charset="0"/>
                <a:cs typeface="Times New Roman" panose="02020603050405020304" pitchFamily="18" charset="0"/>
              </a:rPr>
              <a:t>E N D   O F   R E P O R T</a:t>
            </a:r>
          </a:p>
        </p:txBody>
      </p:sp>
      <p:cxnSp>
        <p:nvCxnSpPr>
          <p:cNvPr id="20" name="Straight Connector 19">
            <a:extLst>
              <a:ext uri="{FF2B5EF4-FFF2-40B4-BE49-F238E27FC236}">
                <a16:creationId xmlns:a16="http://schemas.microsoft.com/office/drawing/2014/main" id="{2A6CFA2C-6785-69ED-36A2-BB268584E931}"/>
              </a:ext>
            </a:extLst>
          </p:cNvPr>
          <p:cNvCxnSpPr/>
          <p:nvPr/>
        </p:nvCxnSpPr>
        <p:spPr>
          <a:xfrm>
            <a:off x="243841" y="9276508"/>
            <a:ext cx="7025061"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D21F648-20CC-D770-B873-939A19BCC6D3}"/>
              </a:ext>
            </a:extLst>
          </p:cNvPr>
          <p:cNvSpPr txBox="1"/>
          <p:nvPr/>
        </p:nvSpPr>
        <p:spPr>
          <a:xfrm>
            <a:off x="243840" y="610528"/>
            <a:ext cx="2232179" cy="369332"/>
          </a:xfrm>
          <a:prstGeom prst="rect">
            <a:avLst/>
          </a:prstGeom>
          <a:noFill/>
        </p:spPr>
        <p:txBody>
          <a:bodyPr wrap="square">
            <a:spAutoFit/>
          </a:bodyPr>
          <a:lstStyle/>
          <a:p>
            <a:pPr>
              <a:spcAft>
                <a:spcPts val="600"/>
              </a:spcAft>
            </a:pPr>
            <a:r>
              <a:rPr lang="en-GB" b="1" i="1" dirty="0">
                <a:latin typeface="Times New Roman" panose="02020603050405020304" pitchFamily="18" charset="0"/>
                <a:cs typeface="Times New Roman" panose="02020603050405020304" pitchFamily="18" charset="0"/>
              </a:rPr>
              <a:t>February 2024</a:t>
            </a:r>
          </a:p>
        </p:txBody>
      </p:sp>
      <p:sp>
        <p:nvSpPr>
          <p:cNvPr id="7" name="Slide Number Placeholder 5">
            <a:extLst>
              <a:ext uri="{FF2B5EF4-FFF2-40B4-BE49-F238E27FC236}">
                <a16:creationId xmlns:a16="http://schemas.microsoft.com/office/drawing/2014/main" id="{ABD754F4-CB8F-1368-B770-9BFD59CD7F21}"/>
              </a:ext>
            </a:extLst>
          </p:cNvPr>
          <p:cNvSpPr txBox="1">
            <a:spLocks/>
          </p:cNvSpPr>
          <p:nvPr/>
        </p:nvSpPr>
        <p:spPr>
          <a:xfrm>
            <a:off x="0" y="10405132"/>
            <a:ext cx="7559675" cy="87695"/>
          </a:xfrm>
          <a:prstGeom prst="rect">
            <a:avLst/>
          </a:prstGeom>
        </p:spPr>
        <p:txBody>
          <a:bodyPr vert="horz" lIns="91440" tIns="45720" rIns="91440" bIns="45720" rtlCol="0" anchor="ctr"/>
          <a:lstStyle>
            <a:defPPr>
              <a:defRPr lang="en-US"/>
            </a:defPPr>
            <a:lvl1pPr marL="0" algn="r" defTabSz="457200" rtl="0" eaLnBrk="1" latinLnBrk="0" hangingPunct="1">
              <a:defRPr sz="992"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40A34D9C-0834-4D8C-8D05-A23100FF43C5}" type="slidenum">
              <a:rPr lang="en-GB" sz="1100" smtClean="0"/>
              <a:pPr algn="ctr"/>
              <a:t>8</a:t>
            </a:fld>
            <a:endParaRPr lang="en-GB" sz="1100" dirty="0"/>
          </a:p>
        </p:txBody>
      </p:sp>
      <p:sp>
        <p:nvSpPr>
          <p:cNvPr id="9" name="TextBox 8">
            <a:extLst>
              <a:ext uri="{FF2B5EF4-FFF2-40B4-BE49-F238E27FC236}">
                <a16:creationId xmlns:a16="http://schemas.microsoft.com/office/drawing/2014/main" id="{C2907B63-1FEC-A212-4EF2-28A2A112ABB4}"/>
              </a:ext>
            </a:extLst>
          </p:cNvPr>
          <p:cNvSpPr txBox="1"/>
          <p:nvPr/>
        </p:nvSpPr>
        <p:spPr>
          <a:xfrm>
            <a:off x="243840" y="1669901"/>
            <a:ext cx="448326" cy="307392"/>
          </a:xfrm>
          <a:prstGeom prst="rect">
            <a:avLst/>
          </a:prstGeom>
          <a:noFill/>
        </p:spPr>
        <p:txBody>
          <a:bodyPr wrap="square">
            <a:spAutoFit/>
          </a:bodyPr>
          <a:lstStyle/>
          <a:p>
            <a:pPr>
              <a:lnSpc>
                <a:spcPct val="107000"/>
              </a:lnSpc>
              <a:spcAft>
                <a:spcPts val="800"/>
              </a:spcAft>
            </a:pPr>
            <a:r>
              <a:rPr lang="en-GB" sz="1400" kern="100" dirty="0">
                <a:latin typeface="Times New Roman" panose="02020603050405020304" pitchFamily="18" charset="0"/>
                <a:ea typeface="Calibri" panose="020F0502020204030204" pitchFamily="34" charset="0"/>
                <a:cs typeface="Times New Roman" panose="02020603050405020304" pitchFamily="18" charset="0"/>
              </a:rPr>
              <a:t>3.1</a:t>
            </a:r>
          </a:p>
        </p:txBody>
      </p:sp>
      <p:sp>
        <p:nvSpPr>
          <p:cNvPr id="14" name="Rectangle 13">
            <a:extLst>
              <a:ext uri="{FF2B5EF4-FFF2-40B4-BE49-F238E27FC236}">
                <a16:creationId xmlns:a16="http://schemas.microsoft.com/office/drawing/2014/main" id="{00346B67-F6A2-A068-3C16-EA8E02FDD100}"/>
              </a:ext>
            </a:extLst>
          </p:cNvPr>
          <p:cNvSpPr/>
          <p:nvPr/>
        </p:nvSpPr>
        <p:spPr>
          <a:xfrm rot="19715063">
            <a:off x="3380620" y="5511669"/>
            <a:ext cx="181338" cy="18407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AA26E2C4-E917-36E6-C8AF-6F81EB71F7FC}"/>
              </a:ext>
            </a:extLst>
          </p:cNvPr>
          <p:cNvSpPr/>
          <p:nvPr/>
        </p:nvSpPr>
        <p:spPr>
          <a:xfrm rot="19715063">
            <a:off x="2856729" y="5840736"/>
            <a:ext cx="199426" cy="186358"/>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ectangle 21">
            <a:extLst>
              <a:ext uri="{FF2B5EF4-FFF2-40B4-BE49-F238E27FC236}">
                <a16:creationId xmlns:a16="http://schemas.microsoft.com/office/drawing/2014/main" id="{70E4F0FA-E625-62F7-2482-FE221B7E249E}"/>
              </a:ext>
            </a:extLst>
          </p:cNvPr>
          <p:cNvSpPr/>
          <p:nvPr/>
        </p:nvSpPr>
        <p:spPr>
          <a:xfrm>
            <a:off x="2556510" y="7252334"/>
            <a:ext cx="224790" cy="160021"/>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22">
            <a:extLst>
              <a:ext uri="{FF2B5EF4-FFF2-40B4-BE49-F238E27FC236}">
                <a16:creationId xmlns:a16="http://schemas.microsoft.com/office/drawing/2014/main" id="{A31761CF-CD84-CE90-77C0-3D388C132657}"/>
              </a:ext>
            </a:extLst>
          </p:cNvPr>
          <p:cNvSpPr/>
          <p:nvPr/>
        </p:nvSpPr>
        <p:spPr>
          <a:xfrm>
            <a:off x="2792383" y="7272585"/>
            <a:ext cx="202894" cy="139800"/>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ectangle 23">
            <a:extLst>
              <a:ext uri="{FF2B5EF4-FFF2-40B4-BE49-F238E27FC236}">
                <a16:creationId xmlns:a16="http://schemas.microsoft.com/office/drawing/2014/main" id="{B3ACD1B5-CC14-78AB-3BBF-0899F8652631}"/>
              </a:ext>
            </a:extLst>
          </p:cNvPr>
          <p:cNvSpPr/>
          <p:nvPr/>
        </p:nvSpPr>
        <p:spPr>
          <a:xfrm>
            <a:off x="3004455" y="7270679"/>
            <a:ext cx="202894" cy="172155"/>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ectangle 24">
            <a:extLst>
              <a:ext uri="{FF2B5EF4-FFF2-40B4-BE49-F238E27FC236}">
                <a16:creationId xmlns:a16="http://schemas.microsoft.com/office/drawing/2014/main" id="{3F8AD379-F556-014C-D596-0349BA51EA16}"/>
              </a:ext>
            </a:extLst>
          </p:cNvPr>
          <p:cNvSpPr/>
          <p:nvPr/>
        </p:nvSpPr>
        <p:spPr>
          <a:xfrm rot="2505952">
            <a:off x="2467889" y="7798425"/>
            <a:ext cx="99680" cy="195032"/>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extLst>
              <a:ext uri="{FF2B5EF4-FFF2-40B4-BE49-F238E27FC236}">
                <a16:creationId xmlns:a16="http://schemas.microsoft.com/office/drawing/2014/main" id="{B89EB362-1003-BB42-54FA-2D0FA76E0153}"/>
              </a:ext>
            </a:extLst>
          </p:cNvPr>
          <p:cNvSpPr/>
          <p:nvPr/>
        </p:nvSpPr>
        <p:spPr>
          <a:xfrm rot="2505952">
            <a:off x="2881551" y="8180750"/>
            <a:ext cx="104789" cy="195032"/>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26">
            <a:extLst>
              <a:ext uri="{FF2B5EF4-FFF2-40B4-BE49-F238E27FC236}">
                <a16:creationId xmlns:a16="http://schemas.microsoft.com/office/drawing/2014/main" id="{E7D89C90-19D0-DE9F-446E-88839C3C28AC}"/>
              </a:ext>
            </a:extLst>
          </p:cNvPr>
          <p:cNvSpPr/>
          <p:nvPr/>
        </p:nvSpPr>
        <p:spPr>
          <a:xfrm rot="5400000">
            <a:off x="3420404" y="8081116"/>
            <a:ext cx="97200" cy="152400"/>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Rectangle 29">
            <a:extLst>
              <a:ext uri="{FF2B5EF4-FFF2-40B4-BE49-F238E27FC236}">
                <a16:creationId xmlns:a16="http://schemas.microsoft.com/office/drawing/2014/main" id="{C3729B03-CD01-C7CE-85FB-4A6E12C40A87}"/>
              </a:ext>
            </a:extLst>
          </p:cNvPr>
          <p:cNvSpPr/>
          <p:nvPr/>
        </p:nvSpPr>
        <p:spPr>
          <a:xfrm rot="5400000">
            <a:off x="3418499" y="8188789"/>
            <a:ext cx="97200" cy="152400"/>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Rectangle 30">
            <a:extLst>
              <a:ext uri="{FF2B5EF4-FFF2-40B4-BE49-F238E27FC236}">
                <a16:creationId xmlns:a16="http://schemas.microsoft.com/office/drawing/2014/main" id="{DFEA9A40-5216-0C1C-C446-BDC05A8E9209}"/>
              </a:ext>
            </a:extLst>
          </p:cNvPr>
          <p:cNvSpPr/>
          <p:nvPr/>
        </p:nvSpPr>
        <p:spPr>
          <a:xfrm rot="2505952">
            <a:off x="2548176" y="7875950"/>
            <a:ext cx="104789" cy="195032"/>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37" name="Group 36">
            <a:extLst>
              <a:ext uri="{FF2B5EF4-FFF2-40B4-BE49-F238E27FC236}">
                <a16:creationId xmlns:a16="http://schemas.microsoft.com/office/drawing/2014/main" id="{71CC7DC4-F030-A0EA-5D9A-E9659987DE82}"/>
              </a:ext>
            </a:extLst>
          </p:cNvPr>
          <p:cNvGrpSpPr/>
          <p:nvPr/>
        </p:nvGrpSpPr>
        <p:grpSpPr>
          <a:xfrm>
            <a:off x="3825594" y="7356756"/>
            <a:ext cx="144426" cy="237844"/>
            <a:chOff x="3825594" y="7356756"/>
            <a:chExt cx="144426" cy="237844"/>
          </a:xfrm>
        </p:grpSpPr>
        <p:sp>
          <p:nvSpPr>
            <p:cNvPr id="35" name="Rectangle 34">
              <a:extLst>
                <a:ext uri="{FF2B5EF4-FFF2-40B4-BE49-F238E27FC236}">
                  <a16:creationId xmlns:a16="http://schemas.microsoft.com/office/drawing/2014/main" id="{6DA62FFB-BE36-57C1-1A7B-4A1AF9615687}"/>
                </a:ext>
              </a:extLst>
            </p:cNvPr>
            <p:cNvSpPr/>
            <p:nvPr/>
          </p:nvSpPr>
          <p:spPr>
            <a:xfrm rot="5400000">
              <a:off x="3823194" y="7447774"/>
              <a:ext cx="149226" cy="144426"/>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87C12077-CD31-3D3D-AF50-CCD48B445B46}"/>
                </a:ext>
              </a:extLst>
            </p:cNvPr>
            <p:cNvSpPr/>
            <p:nvPr/>
          </p:nvSpPr>
          <p:spPr>
            <a:xfrm rot="5400000">
              <a:off x="3859301" y="7395262"/>
              <a:ext cx="149226" cy="72213"/>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8" name="Rectangle 37">
            <a:extLst>
              <a:ext uri="{FF2B5EF4-FFF2-40B4-BE49-F238E27FC236}">
                <a16:creationId xmlns:a16="http://schemas.microsoft.com/office/drawing/2014/main" id="{906305BB-67EC-6D5C-105C-A5608F0F7F9F}"/>
              </a:ext>
            </a:extLst>
          </p:cNvPr>
          <p:cNvSpPr/>
          <p:nvPr/>
        </p:nvSpPr>
        <p:spPr>
          <a:xfrm rot="165803">
            <a:off x="3413069" y="6811002"/>
            <a:ext cx="202894" cy="192730"/>
          </a:xfrm>
          <a:prstGeom prst="rect">
            <a:avLst/>
          </a:prstGeom>
          <a:solidFill>
            <a:srgbClr val="9F0B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186E3984-6E28-4661-C4A6-745C88B4EC6E}"/>
              </a:ext>
            </a:extLst>
          </p:cNvPr>
          <p:cNvSpPr txBox="1"/>
          <p:nvPr/>
        </p:nvSpPr>
        <p:spPr>
          <a:xfrm>
            <a:off x="856489" y="1663963"/>
            <a:ext cx="5950159" cy="738664"/>
          </a:xfrm>
          <a:prstGeom prst="rect">
            <a:avLst/>
          </a:prstGeom>
          <a:noFill/>
        </p:spPr>
        <p:txBody>
          <a:bodyPr wrap="square">
            <a:spAutoFit/>
          </a:bodyPr>
          <a:lstStyle/>
          <a:p>
            <a:r>
              <a:rPr lang="en-GB" sz="1400" dirty="0">
                <a:latin typeface="Times New Roman" panose="02020603050405020304" pitchFamily="18" charset="0"/>
                <a:cs typeface="Times New Roman" panose="02020603050405020304" pitchFamily="18" charset="0"/>
              </a:rPr>
              <a:t>The map below shows affordable homes in the area, marked in red. The nearest one to 2 Bondgate (shown in black) is a one-bedroom bungalow just two doors down, about 17 metres to the southwest. It is owned by Leeds City Council.</a:t>
            </a:r>
          </a:p>
        </p:txBody>
      </p:sp>
    </p:spTree>
    <p:extLst>
      <p:ext uri="{BB962C8B-B14F-4D97-AF65-F5344CB8AC3E}">
        <p14:creationId xmlns:p14="http://schemas.microsoft.com/office/powerpoint/2010/main" val="41570859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7812</TotalTime>
  <Words>1025</Words>
  <Application>Microsoft Office PowerPoint</Application>
  <PresentationFormat>Custom</PresentationFormat>
  <Paragraphs>257</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Volosyanko</dc:creator>
  <cp:lastModifiedBy>Robert Volosyanko</cp:lastModifiedBy>
  <cp:revision>381</cp:revision>
  <dcterms:created xsi:type="dcterms:W3CDTF">2024-02-08T20:43:53Z</dcterms:created>
  <dcterms:modified xsi:type="dcterms:W3CDTF">2025-12-30T17:30:37Z</dcterms:modified>
</cp:coreProperties>
</file>